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Kollektif Bold" charset="1" panose="020B0604020101010102"/>
      <p:regular r:id="rId19"/>
    </p:embeddedFont>
    <p:embeddedFont>
      <p:font typeface="Kollektif" charset="1" panose="020B0604020101010102"/>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 Id="rId6" Target="../media/image13.png" Type="http://schemas.openxmlformats.org/officeDocument/2006/relationships/image"/><Relationship Id="rId7" Target="../media/image14.png" Type="http://schemas.openxmlformats.org/officeDocument/2006/relationships/image"/><Relationship Id="rId8" Target="../media/image15.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9819527" y="-5338266"/>
            <a:ext cx="24031566" cy="20516950"/>
          </a:xfrm>
          <a:custGeom>
            <a:avLst/>
            <a:gdLst/>
            <a:ahLst/>
            <a:cxnLst/>
            <a:rect r="r" b="b" t="t" l="l"/>
            <a:pathLst>
              <a:path h="20516950" w="24031566">
                <a:moveTo>
                  <a:pt x="0" y="0"/>
                </a:moveTo>
                <a:lnTo>
                  <a:pt x="24031567" y="0"/>
                </a:lnTo>
                <a:lnTo>
                  <a:pt x="24031567" y="20516950"/>
                </a:lnTo>
                <a:lnTo>
                  <a:pt x="0" y="20516950"/>
                </a:lnTo>
                <a:lnTo>
                  <a:pt x="0" y="0"/>
                </a:lnTo>
                <a:close/>
              </a:path>
            </a:pathLst>
          </a:custGeom>
          <a:blipFill>
            <a:blip r:embed="rId2"/>
            <a:stretch>
              <a:fillRect l="0" t="0" r="0" b="0"/>
            </a:stretch>
          </a:blipFill>
        </p:spPr>
      </p:sp>
      <p:sp>
        <p:nvSpPr>
          <p:cNvPr name="TextBox 3" id="3"/>
          <p:cNvSpPr txBox="true"/>
          <p:nvPr/>
        </p:nvSpPr>
        <p:spPr>
          <a:xfrm rot="0">
            <a:off x="370914" y="1658504"/>
            <a:ext cx="9369105" cy="6656760"/>
          </a:xfrm>
          <a:prstGeom prst="rect">
            <a:avLst/>
          </a:prstGeom>
        </p:spPr>
        <p:txBody>
          <a:bodyPr anchor="t" rtlCol="false" tIns="0" lIns="0" bIns="0" rIns="0">
            <a:spAutoFit/>
          </a:bodyPr>
          <a:lstStyle/>
          <a:p>
            <a:pPr algn="ctr">
              <a:lnSpc>
                <a:spcPts val="7435"/>
              </a:lnSpc>
            </a:pPr>
            <a:r>
              <a:rPr lang="en-US" b="true" sz="7435" spc="-312">
                <a:solidFill>
                  <a:srgbClr val="FFFFFF"/>
                </a:solidFill>
                <a:latin typeface="Kollektif Bold"/>
                <a:ea typeface="Kollektif Bold"/>
                <a:cs typeface="Kollektif Bold"/>
                <a:sym typeface="Kollektif Bold"/>
              </a:rPr>
              <a:t>AADECS : Autonomous Accident Detection and Emergency Communication System</a:t>
            </a:r>
          </a:p>
          <a:p>
            <a:pPr algn="ctr">
              <a:lnSpc>
                <a:spcPts val="7435"/>
              </a:lnSpc>
            </a:pPr>
          </a:p>
        </p:txBody>
      </p:sp>
      <p:sp>
        <p:nvSpPr>
          <p:cNvPr name="TextBox 4" id="4"/>
          <p:cNvSpPr txBox="true"/>
          <p:nvPr/>
        </p:nvSpPr>
        <p:spPr>
          <a:xfrm rot="0">
            <a:off x="3960375" y="6108522"/>
            <a:ext cx="2746172" cy="467963"/>
          </a:xfrm>
          <a:prstGeom prst="rect">
            <a:avLst/>
          </a:prstGeom>
        </p:spPr>
        <p:txBody>
          <a:bodyPr anchor="t" rtlCol="false" tIns="0" lIns="0" bIns="0" rIns="0">
            <a:spAutoFit/>
          </a:bodyPr>
          <a:lstStyle/>
          <a:p>
            <a:pPr algn="l">
              <a:lnSpc>
                <a:spcPts val="3575"/>
              </a:lnSpc>
            </a:pPr>
            <a:r>
              <a:rPr lang="en-US" sz="3575" spc="-150" b="true">
                <a:solidFill>
                  <a:srgbClr val="FFFFFF"/>
                </a:solidFill>
                <a:latin typeface="Kollektif Bold"/>
                <a:ea typeface="Kollektif Bold"/>
                <a:cs typeface="Kollektif Bold"/>
                <a:sym typeface="Kollektif Bold"/>
              </a:rPr>
              <a:t>business slides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479892" y="-1355820"/>
            <a:ext cx="15779408" cy="13471670"/>
          </a:xfrm>
          <a:custGeom>
            <a:avLst/>
            <a:gdLst/>
            <a:ahLst/>
            <a:cxnLst/>
            <a:rect r="r" b="b" t="t" l="l"/>
            <a:pathLst>
              <a:path h="13471670" w="15779408">
                <a:moveTo>
                  <a:pt x="0" y="0"/>
                </a:moveTo>
                <a:lnTo>
                  <a:pt x="15779408" y="0"/>
                </a:lnTo>
                <a:lnTo>
                  <a:pt x="15779408" y="13471670"/>
                </a:lnTo>
                <a:lnTo>
                  <a:pt x="0" y="13471670"/>
                </a:lnTo>
                <a:lnTo>
                  <a:pt x="0" y="0"/>
                </a:lnTo>
                <a:close/>
              </a:path>
            </a:pathLst>
          </a:custGeom>
          <a:blipFill>
            <a:blip r:embed="rId2"/>
            <a:stretch>
              <a:fillRect l="0" t="0" r="0" b="0"/>
            </a:stretch>
          </a:blipFill>
        </p:spPr>
      </p:sp>
      <p:sp>
        <p:nvSpPr>
          <p:cNvPr name="TextBox 3" id="3"/>
          <p:cNvSpPr txBox="true"/>
          <p:nvPr/>
        </p:nvSpPr>
        <p:spPr>
          <a:xfrm rot="0">
            <a:off x="3231615" y="962025"/>
            <a:ext cx="11453659" cy="1042123"/>
          </a:xfrm>
          <a:prstGeom prst="rect">
            <a:avLst/>
          </a:prstGeom>
        </p:spPr>
        <p:txBody>
          <a:bodyPr anchor="t" rtlCol="false" tIns="0" lIns="0" bIns="0" rIns="0">
            <a:spAutoFit/>
          </a:bodyPr>
          <a:lstStyle/>
          <a:p>
            <a:pPr algn="ctr">
              <a:lnSpc>
                <a:spcPts val="8376"/>
              </a:lnSpc>
              <a:spcBef>
                <a:spcPct val="0"/>
              </a:spcBef>
            </a:pPr>
            <a:r>
              <a:rPr lang="en-US" b="true" sz="6443">
                <a:solidFill>
                  <a:srgbClr val="FFFFFF"/>
                </a:solidFill>
                <a:latin typeface="Kollektif Bold"/>
                <a:ea typeface="Kollektif Bold"/>
                <a:cs typeface="Kollektif Bold"/>
                <a:sym typeface="Kollektif Bold"/>
              </a:rPr>
              <a:t>Group - 1</a:t>
            </a:r>
          </a:p>
        </p:txBody>
      </p:sp>
      <p:sp>
        <p:nvSpPr>
          <p:cNvPr name="TextBox 4" id="4"/>
          <p:cNvSpPr txBox="true"/>
          <p:nvPr/>
        </p:nvSpPr>
        <p:spPr>
          <a:xfrm rot="0">
            <a:off x="2367821" y="3948970"/>
            <a:ext cx="12720197" cy="2350960"/>
          </a:xfrm>
          <a:prstGeom prst="rect">
            <a:avLst/>
          </a:prstGeom>
        </p:spPr>
        <p:txBody>
          <a:bodyPr anchor="t" rtlCol="false" tIns="0" lIns="0" bIns="0" rIns="0">
            <a:spAutoFit/>
          </a:bodyPr>
          <a:lstStyle/>
          <a:p>
            <a:pPr algn="ctr">
              <a:lnSpc>
                <a:spcPts val="4682"/>
              </a:lnSpc>
              <a:spcBef>
                <a:spcPct val="0"/>
              </a:spcBef>
            </a:pPr>
            <a:r>
              <a:rPr lang="en-US" b="true" sz="3601">
                <a:solidFill>
                  <a:srgbClr val="FFFFFF"/>
                </a:solidFill>
                <a:latin typeface="Kollektif Bold"/>
                <a:ea typeface="Kollektif Bold"/>
                <a:cs typeface="Kollektif Bold"/>
                <a:sym typeface="Kollektif Bold"/>
              </a:rPr>
              <a:t>•2310040007 – U .Chaitanya Vignesh</a:t>
            </a:r>
          </a:p>
          <a:p>
            <a:pPr algn="ctr">
              <a:lnSpc>
                <a:spcPts val="4682"/>
              </a:lnSpc>
              <a:spcBef>
                <a:spcPct val="0"/>
              </a:spcBef>
            </a:pPr>
            <a:r>
              <a:rPr lang="en-US" b="true" sz="3601">
                <a:solidFill>
                  <a:srgbClr val="FFFFFF"/>
                </a:solidFill>
                <a:latin typeface="Kollektif Bold"/>
                <a:ea typeface="Kollektif Bold"/>
                <a:cs typeface="Kollektif Bold"/>
                <a:sym typeface="Kollektif Bold"/>
              </a:rPr>
              <a:t>•2310040106 – P .Lakshmi Reddy</a:t>
            </a:r>
          </a:p>
          <a:p>
            <a:pPr algn="ctr">
              <a:lnSpc>
                <a:spcPts val="4682"/>
              </a:lnSpc>
              <a:spcBef>
                <a:spcPct val="0"/>
              </a:spcBef>
            </a:pPr>
            <a:r>
              <a:rPr lang="en-US" b="true" sz="3601">
                <a:solidFill>
                  <a:srgbClr val="FFFFFF"/>
                </a:solidFill>
                <a:latin typeface="Kollektif Bold"/>
                <a:ea typeface="Kollektif Bold"/>
                <a:cs typeface="Kollektif Bold"/>
                <a:sym typeface="Kollektif Bold"/>
              </a:rPr>
              <a:t>•2310040126 – G .Sanjana</a:t>
            </a:r>
          </a:p>
          <a:p>
            <a:pPr algn="ctr">
              <a:lnSpc>
                <a:spcPts val="4682"/>
              </a:lnSpc>
              <a:spcBef>
                <a:spcPct val="0"/>
              </a:spcBef>
            </a:pPr>
            <a:r>
              <a:rPr lang="en-US" b="true" sz="3601">
                <a:solidFill>
                  <a:srgbClr val="FFFFFF"/>
                </a:solidFill>
                <a:latin typeface="Kollektif Bold"/>
                <a:ea typeface="Kollektif Bold"/>
                <a:cs typeface="Kollektif Bold"/>
                <a:sym typeface="Kollektif Bold"/>
              </a:rPr>
              <a:t>•2310049151 – K. Bhanu Praveen</a:t>
            </a:r>
          </a:p>
        </p:txBody>
      </p:sp>
    </p:spTree>
  </p:cSld>
  <p:clrMapOvr>
    <a:masterClrMapping/>
  </p:clrMapOvr>
  <p:transition spd="slow">
    <p:push dir="l"/>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AutoShape 2" id="2"/>
          <p:cNvSpPr/>
          <p:nvPr/>
        </p:nvSpPr>
        <p:spPr>
          <a:xfrm>
            <a:off x="1028700" y="1230719"/>
            <a:ext cx="16230600" cy="0"/>
          </a:xfrm>
          <a:prstGeom prst="line">
            <a:avLst/>
          </a:prstGeom>
          <a:ln cap="flat" w="19050">
            <a:solidFill>
              <a:srgbClr val="FFFFFF"/>
            </a:solidFill>
            <a:prstDash val="solid"/>
            <a:headEnd type="none" len="sm" w="sm"/>
            <a:tailEnd type="none" len="sm" w="sm"/>
          </a:ln>
        </p:spPr>
      </p:sp>
      <p:sp>
        <p:nvSpPr>
          <p:cNvPr name="AutoShape 3" id="3"/>
          <p:cNvSpPr/>
          <p:nvPr/>
        </p:nvSpPr>
        <p:spPr>
          <a:xfrm>
            <a:off x="1028700" y="2321744"/>
            <a:ext cx="16230600" cy="0"/>
          </a:xfrm>
          <a:prstGeom prst="line">
            <a:avLst/>
          </a:prstGeom>
          <a:ln cap="flat" w="19050">
            <a:solidFill>
              <a:srgbClr val="FFFFFF"/>
            </a:solidFill>
            <a:prstDash val="solid"/>
            <a:headEnd type="none" len="sm" w="sm"/>
            <a:tailEnd type="none" len="sm" w="sm"/>
          </a:ln>
        </p:spPr>
      </p:sp>
      <p:sp>
        <p:nvSpPr>
          <p:cNvPr name="AutoShape 4" id="4"/>
          <p:cNvSpPr/>
          <p:nvPr/>
        </p:nvSpPr>
        <p:spPr>
          <a:xfrm>
            <a:off x="1068623" y="3461925"/>
            <a:ext cx="16230600" cy="0"/>
          </a:xfrm>
          <a:prstGeom prst="line">
            <a:avLst/>
          </a:prstGeom>
          <a:ln cap="flat" w="19050">
            <a:solidFill>
              <a:srgbClr val="FFFFFF"/>
            </a:solidFill>
            <a:prstDash val="solid"/>
            <a:headEnd type="none" len="sm" w="sm"/>
            <a:tailEnd type="none" len="sm" w="sm"/>
          </a:ln>
        </p:spPr>
      </p:sp>
      <p:sp>
        <p:nvSpPr>
          <p:cNvPr name="AutoShape 5" id="5"/>
          <p:cNvSpPr/>
          <p:nvPr/>
        </p:nvSpPr>
        <p:spPr>
          <a:xfrm>
            <a:off x="1068623" y="4618539"/>
            <a:ext cx="16230600" cy="0"/>
          </a:xfrm>
          <a:prstGeom prst="line">
            <a:avLst/>
          </a:prstGeom>
          <a:ln cap="flat" w="19050">
            <a:solidFill>
              <a:srgbClr val="FFFFFF"/>
            </a:solidFill>
            <a:prstDash val="solid"/>
            <a:headEnd type="none" len="sm" w="sm"/>
            <a:tailEnd type="none" len="sm" w="sm"/>
          </a:ln>
        </p:spPr>
      </p:sp>
      <p:sp>
        <p:nvSpPr>
          <p:cNvPr name="TextBox 6" id="6"/>
          <p:cNvSpPr txBox="true"/>
          <p:nvPr/>
        </p:nvSpPr>
        <p:spPr>
          <a:xfrm rot="0">
            <a:off x="1068623" y="1573619"/>
            <a:ext cx="3306074" cy="521335"/>
          </a:xfrm>
          <a:prstGeom prst="rect">
            <a:avLst/>
          </a:prstGeom>
        </p:spPr>
        <p:txBody>
          <a:bodyPr anchor="t" rtlCol="false" tIns="0" lIns="0" bIns="0" rIns="0">
            <a:spAutoFit/>
          </a:bodyPr>
          <a:lstStyle/>
          <a:p>
            <a:pPr algn="just" marL="0" indent="0" lvl="0">
              <a:lnSpc>
                <a:spcPts val="4160"/>
              </a:lnSpc>
              <a:spcBef>
                <a:spcPct val="0"/>
              </a:spcBef>
            </a:pPr>
            <a:r>
              <a:rPr lang="en-US" b="true" sz="3200">
                <a:solidFill>
                  <a:srgbClr val="FFFFFF"/>
                </a:solidFill>
                <a:latin typeface="Kollektif Bold"/>
                <a:ea typeface="Kollektif Bold"/>
                <a:cs typeface="Kollektif Bold"/>
                <a:sym typeface="Kollektif Bold"/>
              </a:rPr>
              <a:t>introduction</a:t>
            </a:r>
          </a:p>
        </p:txBody>
      </p:sp>
      <p:sp>
        <p:nvSpPr>
          <p:cNvPr name="TextBox 7" id="7"/>
          <p:cNvSpPr txBox="true"/>
          <p:nvPr/>
        </p:nvSpPr>
        <p:spPr>
          <a:xfrm rot="0">
            <a:off x="1028700" y="2664644"/>
            <a:ext cx="4077612" cy="521335"/>
          </a:xfrm>
          <a:prstGeom prst="rect">
            <a:avLst/>
          </a:prstGeom>
        </p:spPr>
        <p:txBody>
          <a:bodyPr anchor="t" rtlCol="false" tIns="0" lIns="0" bIns="0" rIns="0">
            <a:spAutoFit/>
          </a:bodyPr>
          <a:lstStyle/>
          <a:p>
            <a:pPr algn="just" marL="0" indent="0" lvl="0">
              <a:lnSpc>
                <a:spcPts val="4160"/>
              </a:lnSpc>
              <a:spcBef>
                <a:spcPct val="0"/>
              </a:spcBef>
            </a:pPr>
            <a:r>
              <a:rPr lang="en-US" b="true" sz="3200">
                <a:solidFill>
                  <a:srgbClr val="FFFFFF"/>
                </a:solidFill>
                <a:latin typeface="Kollektif Bold"/>
                <a:ea typeface="Kollektif Bold"/>
                <a:cs typeface="Kollektif Bold"/>
                <a:sym typeface="Kollektif Bold"/>
              </a:rPr>
              <a:t>Problem Statment</a:t>
            </a:r>
          </a:p>
        </p:txBody>
      </p:sp>
      <p:sp>
        <p:nvSpPr>
          <p:cNvPr name="TextBox 8" id="8"/>
          <p:cNvSpPr txBox="true"/>
          <p:nvPr/>
        </p:nvSpPr>
        <p:spPr>
          <a:xfrm rot="0">
            <a:off x="1108546" y="3814629"/>
            <a:ext cx="8155223" cy="365760"/>
          </a:xfrm>
          <a:prstGeom prst="rect">
            <a:avLst/>
          </a:prstGeom>
        </p:spPr>
        <p:txBody>
          <a:bodyPr anchor="t" rtlCol="false" tIns="0" lIns="0" bIns="0" rIns="0">
            <a:spAutoFit/>
          </a:bodyPr>
          <a:lstStyle/>
          <a:p>
            <a:pPr algn="l">
              <a:lnSpc>
                <a:spcPts val="2940"/>
              </a:lnSpc>
            </a:pPr>
          </a:p>
        </p:txBody>
      </p:sp>
      <p:sp>
        <p:nvSpPr>
          <p:cNvPr name="TextBox 9" id="9"/>
          <p:cNvSpPr txBox="true"/>
          <p:nvPr/>
        </p:nvSpPr>
        <p:spPr>
          <a:xfrm rot="0">
            <a:off x="1068623" y="3719100"/>
            <a:ext cx="4274570" cy="521335"/>
          </a:xfrm>
          <a:prstGeom prst="rect">
            <a:avLst/>
          </a:prstGeom>
        </p:spPr>
        <p:txBody>
          <a:bodyPr anchor="t" rtlCol="false" tIns="0" lIns="0" bIns="0" rIns="0">
            <a:spAutoFit/>
          </a:bodyPr>
          <a:lstStyle/>
          <a:p>
            <a:pPr algn="just" marL="0" indent="0" lvl="0">
              <a:lnSpc>
                <a:spcPts val="4160"/>
              </a:lnSpc>
              <a:spcBef>
                <a:spcPct val="0"/>
              </a:spcBef>
            </a:pPr>
            <a:r>
              <a:rPr lang="en-US" b="true" sz="3200">
                <a:solidFill>
                  <a:srgbClr val="FFFFFF"/>
                </a:solidFill>
                <a:latin typeface="Kollektif Bold"/>
                <a:ea typeface="Kollektif Bold"/>
                <a:cs typeface="Kollektif Bold"/>
                <a:sym typeface="Kollektif Bold"/>
              </a:rPr>
              <a:t>Literature Survey</a:t>
            </a:r>
          </a:p>
        </p:txBody>
      </p:sp>
      <p:sp>
        <p:nvSpPr>
          <p:cNvPr name="TextBox 10" id="10"/>
          <p:cNvSpPr txBox="true"/>
          <p:nvPr/>
        </p:nvSpPr>
        <p:spPr>
          <a:xfrm rot="0">
            <a:off x="1068623" y="4716685"/>
            <a:ext cx="8155223" cy="365760"/>
          </a:xfrm>
          <a:prstGeom prst="rect">
            <a:avLst/>
          </a:prstGeom>
        </p:spPr>
        <p:txBody>
          <a:bodyPr anchor="t" rtlCol="false" tIns="0" lIns="0" bIns="0" rIns="0">
            <a:spAutoFit/>
          </a:bodyPr>
          <a:lstStyle/>
          <a:p>
            <a:pPr algn="l">
              <a:lnSpc>
                <a:spcPts val="2940"/>
              </a:lnSpc>
            </a:pPr>
          </a:p>
        </p:txBody>
      </p:sp>
      <p:sp>
        <p:nvSpPr>
          <p:cNvPr name="TextBox 11" id="11"/>
          <p:cNvSpPr txBox="true"/>
          <p:nvPr/>
        </p:nvSpPr>
        <p:spPr>
          <a:xfrm rot="0">
            <a:off x="1028700" y="4875714"/>
            <a:ext cx="3306074" cy="521335"/>
          </a:xfrm>
          <a:prstGeom prst="rect">
            <a:avLst/>
          </a:prstGeom>
        </p:spPr>
        <p:txBody>
          <a:bodyPr anchor="t" rtlCol="false" tIns="0" lIns="0" bIns="0" rIns="0">
            <a:spAutoFit/>
          </a:bodyPr>
          <a:lstStyle/>
          <a:p>
            <a:pPr algn="just" marL="0" indent="0" lvl="0">
              <a:lnSpc>
                <a:spcPts val="4160"/>
              </a:lnSpc>
              <a:spcBef>
                <a:spcPct val="0"/>
              </a:spcBef>
            </a:pPr>
            <a:r>
              <a:rPr lang="en-US" b="true" sz="3200">
                <a:solidFill>
                  <a:srgbClr val="FFFFFF"/>
                </a:solidFill>
                <a:latin typeface="Kollektif Bold"/>
                <a:ea typeface="Kollektif Bold"/>
                <a:cs typeface="Kollektif Bold"/>
                <a:sym typeface="Kollektif Bold"/>
              </a:rPr>
              <a:t>Knowledge gap</a:t>
            </a:r>
          </a:p>
        </p:txBody>
      </p:sp>
      <p:sp>
        <p:nvSpPr>
          <p:cNvPr name="TextBox 12" id="12"/>
          <p:cNvSpPr txBox="true"/>
          <p:nvPr/>
        </p:nvSpPr>
        <p:spPr>
          <a:xfrm rot="0">
            <a:off x="1028700" y="5349423"/>
            <a:ext cx="8155223" cy="365760"/>
          </a:xfrm>
          <a:prstGeom prst="rect">
            <a:avLst/>
          </a:prstGeom>
        </p:spPr>
        <p:txBody>
          <a:bodyPr anchor="t" rtlCol="false" tIns="0" lIns="0" bIns="0" rIns="0">
            <a:spAutoFit/>
          </a:bodyPr>
          <a:lstStyle/>
          <a:p>
            <a:pPr algn="l">
              <a:lnSpc>
                <a:spcPts val="2940"/>
              </a:lnSpc>
            </a:pPr>
          </a:p>
        </p:txBody>
      </p:sp>
      <p:sp>
        <p:nvSpPr>
          <p:cNvPr name="AutoShape 13" id="13"/>
          <p:cNvSpPr/>
          <p:nvPr/>
        </p:nvSpPr>
        <p:spPr>
          <a:xfrm>
            <a:off x="1068623" y="5625648"/>
            <a:ext cx="16230600" cy="0"/>
          </a:xfrm>
          <a:prstGeom prst="line">
            <a:avLst/>
          </a:prstGeom>
          <a:ln cap="flat" w="19050">
            <a:solidFill>
              <a:srgbClr val="FFFFFF"/>
            </a:solidFill>
            <a:prstDash val="solid"/>
            <a:headEnd type="none" len="sm" w="sm"/>
            <a:tailEnd type="none" len="sm" w="sm"/>
          </a:ln>
        </p:spPr>
      </p:sp>
      <p:sp>
        <p:nvSpPr>
          <p:cNvPr name="Freeform 14" id="14"/>
          <p:cNvSpPr/>
          <p:nvPr/>
        </p:nvSpPr>
        <p:spPr>
          <a:xfrm flipH="false" flipV="false" rot="0">
            <a:off x="419221" y="109214"/>
            <a:ext cx="9533873" cy="1111980"/>
          </a:xfrm>
          <a:custGeom>
            <a:avLst/>
            <a:gdLst/>
            <a:ahLst/>
            <a:cxnLst/>
            <a:rect r="r" b="b" t="t" l="l"/>
            <a:pathLst>
              <a:path h="1111980" w="9533873">
                <a:moveTo>
                  <a:pt x="0" y="0"/>
                </a:moveTo>
                <a:lnTo>
                  <a:pt x="9533873" y="0"/>
                </a:lnTo>
                <a:lnTo>
                  <a:pt x="9533873" y="1111980"/>
                </a:lnTo>
                <a:lnTo>
                  <a:pt x="0" y="1111980"/>
                </a:lnTo>
                <a:lnTo>
                  <a:pt x="0" y="0"/>
                </a:lnTo>
                <a:close/>
              </a:path>
            </a:pathLst>
          </a:custGeom>
          <a:blipFill>
            <a:blip r:embed="rId2"/>
            <a:stretch>
              <a:fillRect l="-24080" t="-463334" r="0" b="-306350"/>
            </a:stretch>
          </a:blipFill>
        </p:spPr>
      </p:sp>
      <p:sp>
        <p:nvSpPr>
          <p:cNvPr name="TextBox 15" id="15"/>
          <p:cNvSpPr txBox="true"/>
          <p:nvPr/>
        </p:nvSpPr>
        <p:spPr>
          <a:xfrm rot="0">
            <a:off x="1028700" y="247739"/>
            <a:ext cx="8591470" cy="973455"/>
          </a:xfrm>
          <a:prstGeom prst="rect">
            <a:avLst/>
          </a:prstGeom>
        </p:spPr>
        <p:txBody>
          <a:bodyPr anchor="t" rtlCol="false" tIns="0" lIns="0" bIns="0" rIns="0">
            <a:spAutoFit/>
          </a:bodyPr>
          <a:lstStyle/>
          <a:p>
            <a:pPr algn="l" marL="0" indent="0" lvl="0">
              <a:lnSpc>
                <a:spcPts val="7200"/>
              </a:lnSpc>
            </a:pPr>
            <a:r>
              <a:rPr lang="en-US" sz="7200" strike="noStrike" u="none">
                <a:solidFill>
                  <a:srgbClr val="FFFFFF"/>
                </a:solidFill>
                <a:latin typeface="Kollektif"/>
                <a:ea typeface="Kollektif"/>
                <a:cs typeface="Kollektif"/>
                <a:sym typeface="Kollektif"/>
              </a:rPr>
              <a:t>Table Of Contents</a:t>
            </a:r>
          </a:p>
        </p:txBody>
      </p:sp>
      <p:sp>
        <p:nvSpPr>
          <p:cNvPr name="AutoShape 16" id="16"/>
          <p:cNvSpPr/>
          <p:nvPr/>
        </p:nvSpPr>
        <p:spPr>
          <a:xfrm>
            <a:off x="1028700" y="6665143"/>
            <a:ext cx="16230600" cy="0"/>
          </a:xfrm>
          <a:prstGeom prst="line">
            <a:avLst/>
          </a:prstGeom>
          <a:ln cap="flat" w="19050">
            <a:solidFill>
              <a:srgbClr val="FFFFFF"/>
            </a:solidFill>
            <a:prstDash val="solid"/>
            <a:headEnd type="none" len="sm" w="sm"/>
            <a:tailEnd type="none" len="sm" w="sm"/>
          </a:ln>
        </p:spPr>
      </p:sp>
      <p:grpSp>
        <p:nvGrpSpPr>
          <p:cNvPr name="Group 17" id="17"/>
          <p:cNvGrpSpPr/>
          <p:nvPr/>
        </p:nvGrpSpPr>
        <p:grpSpPr>
          <a:xfrm rot="0">
            <a:off x="-7797121" y="-400685"/>
            <a:ext cx="8155223" cy="801370"/>
            <a:chOff x="0" y="0"/>
            <a:chExt cx="10873631" cy="1068493"/>
          </a:xfrm>
        </p:grpSpPr>
        <p:sp>
          <p:nvSpPr>
            <p:cNvPr name="TextBox 18" id="18"/>
            <p:cNvSpPr txBox="true"/>
            <p:nvPr/>
          </p:nvSpPr>
          <p:spPr>
            <a:xfrm rot="0">
              <a:off x="0" y="-38100"/>
              <a:ext cx="4408098" cy="682413"/>
            </a:xfrm>
            <a:prstGeom prst="rect">
              <a:avLst/>
            </a:prstGeom>
          </p:spPr>
          <p:txBody>
            <a:bodyPr anchor="t" rtlCol="false" tIns="0" lIns="0" bIns="0" rIns="0">
              <a:spAutoFit/>
            </a:bodyPr>
            <a:lstStyle/>
            <a:p>
              <a:pPr algn="just" marL="0" indent="0" lvl="0">
                <a:lnSpc>
                  <a:spcPts val="4160"/>
                </a:lnSpc>
                <a:spcBef>
                  <a:spcPct val="0"/>
                </a:spcBef>
              </a:pPr>
              <a:r>
                <a:rPr lang="en-US" b="true" sz="3200">
                  <a:solidFill>
                    <a:srgbClr val="FFFFFF"/>
                  </a:solidFill>
                  <a:latin typeface="Kollektif Bold"/>
                  <a:ea typeface="Kollektif Bold"/>
                  <a:cs typeface="Kollektif Bold"/>
                  <a:sym typeface="Kollektif Bold"/>
                </a:rPr>
                <a:t>introduction</a:t>
              </a:r>
            </a:p>
          </p:txBody>
        </p:sp>
        <p:sp>
          <p:nvSpPr>
            <p:cNvPr name="TextBox 19" id="19"/>
            <p:cNvSpPr txBox="true"/>
            <p:nvPr/>
          </p:nvSpPr>
          <p:spPr>
            <a:xfrm rot="0">
              <a:off x="0" y="596688"/>
              <a:ext cx="10873631" cy="471805"/>
            </a:xfrm>
            <a:prstGeom prst="rect">
              <a:avLst/>
            </a:prstGeom>
          </p:spPr>
          <p:txBody>
            <a:bodyPr anchor="t" rtlCol="false" tIns="0" lIns="0" bIns="0" rIns="0">
              <a:spAutoFit/>
            </a:bodyPr>
            <a:lstStyle/>
            <a:p>
              <a:pPr algn="l">
                <a:lnSpc>
                  <a:spcPts val="2940"/>
                </a:lnSpc>
              </a:pPr>
            </a:p>
          </p:txBody>
        </p:sp>
      </p:grpSp>
      <p:sp>
        <p:nvSpPr>
          <p:cNvPr name="TextBox 20" id="20"/>
          <p:cNvSpPr txBox="true"/>
          <p:nvPr/>
        </p:nvSpPr>
        <p:spPr>
          <a:xfrm rot="0">
            <a:off x="1108546" y="5915208"/>
            <a:ext cx="3306074" cy="521335"/>
          </a:xfrm>
          <a:prstGeom prst="rect">
            <a:avLst/>
          </a:prstGeom>
        </p:spPr>
        <p:txBody>
          <a:bodyPr anchor="t" rtlCol="false" tIns="0" lIns="0" bIns="0" rIns="0">
            <a:spAutoFit/>
          </a:bodyPr>
          <a:lstStyle/>
          <a:p>
            <a:pPr algn="just" marL="0" indent="0" lvl="0">
              <a:lnSpc>
                <a:spcPts val="4160"/>
              </a:lnSpc>
              <a:spcBef>
                <a:spcPct val="0"/>
              </a:spcBef>
            </a:pPr>
            <a:r>
              <a:rPr lang="en-US" b="true" sz="3200">
                <a:solidFill>
                  <a:srgbClr val="FFFFFF"/>
                </a:solidFill>
                <a:latin typeface="Kollektif Bold"/>
                <a:ea typeface="Kollektif Bold"/>
                <a:cs typeface="Kollektif Bold"/>
                <a:sym typeface="Kollektif Bold"/>
              </a:rPr>
              <a:t>Methodology </a:t>
            </a:r>
          </a:p>
        </p:txBody>
      </p:sp>
      <p:sp>
        <p:nvSpPr>
          <p:cNvPr name="AutoShape 21" id="21"/>
          <p:cNvSpPr/>
          <p:nvPr/>
        </p:nvSpPr>
        <p:spPr>
          <a:xfrm>
            <a:off x="1028700" y="7627168"/>
            <a:ext cx="16230600" cy="0"/>
          </a:xfrm>
          <a:prstGeom prst="line">
            <a:avLst/>
          </a:prstGeom>
          <a:ln cap="flat" w="19050">
            <a:solidFill>
              <a:srgbClr val="FFFFFF"/>
            </a:solidFill>
            <a:prstDash val="solid"/>
            <a:headEnd type="none" len="sm" w="sm"/>
            <a:tailEnd type="none" len="sm" w="sm"/>
          </a:ln>
        </p:spPr>
      </p:sp>
      <p:sp>
        <p:nvSpPr>
          <p:cNvPr name="TextBox 22" id="22"/>
          <p:cNvSpPr txBox="true"/>
          <p:nvPr/>
        </p:nvSpPr>
        <p:spPr>
          <a:xfrm rot="0">
            <a:off x="1108546" y="6855643"/>
            <a:ext cx="4077612" cy="521335"/>
          </a:xfrm>
          <a:prstGeom prst="rect">
            <a:avLst/>
          </a:prstGeom>
        </p:spPr>
        <p:txBody>
          <a:bodyPr anchor="t" rtlCol="false" tIns="0" lIns="0" bIns="0" rIns="0">
            <a:spAutoFit/>
          </a:bodyPr>
          <a:lstStyle/>
          <a:p>
            <a:pPr algn="just" marL="0" indent="0" lvl="0">
              <a:lnSpc>
                <a:spcPts val="4160"/>
              </a:lnSpc>
              <a:spcBef>
                <a:spcPct val="0"/>
              </a:spcBef>
            </a:pPr>
            <a:r>
              <a:rPr lang="en-US" b="true" sz="3200">
                <a:solidFill>
                  <a:srgbClr val="FFFFFF"/>
                </a:solidFill>
                <a:latin typeface="Kollektif Bold"/>
                <a:ea typeface="Kollektif Bold"/>
                <a:cs typeface="Kollektif Bold"/>
                <a:sym typeface="Kollektif Bold"/>
              </a:rPr>
              <a:t>Expected Outcome</a:t>
            </a:r>
          </a:p>
        </p:txBody>
      </p:sp>
      <p:sp>
        <p:nvSpPr>
          <p:cNvPr name="AutoShape 23" id="23"/>
          <p:cNvSpPr/>
          <p:nvPr/>
        </p:nvSpPr>
        <p:spPr>
          <a:xfrm>
            <a:off x="1028700" y="8589193"/>
            <a:ext cx="16230600" cy="0"/>
          </a:xfrm>
          <a:prstGeom prst="line">
            <a:avLst/>
          </a:prstGeom>
          <a:ln cap="flat" w="19050">
            <a:solidFill>
              <a:srgbClr val="FFFFFF"/>
            </a:solidFill>
            <a:prstDash val="solid"/>
            <a:headEnd type="none" len="sm" w="sm"/>
            <a:tailEnd type="none" len="sm" w="sm"/>
          </a:ln>
        </p:spPr>
      </p:sp>
      <p:sp>
        <p:nvSpPr>
          <p:cNvPr name="TextBox 24" id="24"/>
          <p:cNvSpPr txBox="true"/>
          <p:nvPr/>
        </p:nvSpPr>
        <p:spPr>
          <a:xfrm rot="0">
            <a:off x="1068623" y="7817668"/>
            <a:ext cx="4077612" cy="521335"/>
          </a:xfrm>
          <a:prstGeom prst="rect">
            <a:avLst/>
          </a:prstGeom>
        </p:spPr>
        <p:txBody>
          <a:bodyPr anchor="t" rtlCol="false" tIns="0" lIns="0" bIns="0" rIns="0">
            <a:spAutoFit/>
          </a:bodyPr>
          <a:lstStyle/>
          <a:p>
            <a:pPr algn="just" marL="0" indent="0" lvl="0">
              <a:lnSpc>
                <a:spcPts val="4160"/>
              </a:lnSpc>
              <a:spcBef>
                <a:spcPct val="0"/>
              </a:spcBef>
            </a:pPr>
            <a:r>
              <a:rPr lang="en-US" b="true" sz="3200">
                <a:solidFill>
                  <a:srgbClr val="FFFFFF"/>
                </a:solidFill>
                <a:latin typeface="Kollektif Bold"/>
                <a:ea typeface="Kollektif Bold"/>
                <a:cs typeface="Kollektif Bold"/>
                <a:sym typeface="Kollektif Bold"/>
              </a:rPr>
              <a:t>References</a:t>
            </a:r>
          </a:p>
        </p:txBody>
      </p:sp>
    </p:spTree>
  </p:cSld>
  <p:clrMapOvr>
    <a:masterClrMapping/>
  </p:clrMapOvr>
  <p:transition spd="slow">
    <p:push dir="l"/>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693583" y="-11224988"/>
            <a:ext cx="34111196" cy="27885902"/>
          </a:xfrm>
          <a:custGeom>
            <a:avLst/>
            <a:gdLst/>
            <a:ahLst/>
            <a:cxnLst/>
            <a:rect r="r" b="b" t="t" l="l"/>
            <a:pathLst>
              <a:path h="27885902" w="34111196">
                <a:moveTo>
                  <a:pt x="0" y="0"/>
                </a:moveTo>
                <a:lnTo>
                  <a:pt x="34111196" y="0"/>
                </a:lnTo>
                <a:lnTo>
                  <a:pt x="34111196" y="27885902"/>
                </a:lnTo>
                <a:lnTo>
                  <a:pt x="0" y="27885902"/>
                </a:lnTo>
                <a:lnTo>
                  <a:pt x="0" y="0"/>
                </a:lnTo>
                <a:close/>
              </a:path>
            </a:pathLst>
          </a:custGeom>
          <a:blipFill>
            <a:blip r:embed="rId2"/>
            <a:stretch>
              <a:fillRect l="0" t="0" r="0" b="0"/>
            </a:stretch>
          </a:blipFill>
          <a:ln cap="sq">
            <a:noFill/>
            <a:prstDash val="solid"/>
            <a:miter/>
          </a:ln>
        </p:spPr>
      </p:sp>
      <p:sp>
        <p:nvSpPr>
          <p:cNvPr name="TextBox 3" id="3"/>
          <p:cNvSpPr txBox="true"/>
          <p:nvPr/>
        </p:nvSpPr>
        <p:spPr>
          <a:xfrm rot="0">
            <a:off x="827522" y="915834"/>
            <a:ext cx="16230600" cy="2012187"/>
          </a:xfrm>
          <a:prstGeom prst="rect">
            <a:avLst/>
          </a:prstGeom>
        </p:spPr>
        <p:txBody>
          <a:bodyPr anchor="t" rtlCol="false" tIns="0" lIns="0" bIns="0" rIns="0">
            <a:spAutoFit/>
          </a:bodyPr>
          <a:lstStyle/>
          <a:p>
            <a:pPr algn="l" marL="0" indent="0" lvl="0">
              <a:lnSpc>
                <a:spcPts val="15094"/>
              </a:lnSpc>
              <a:spcBef>
                <a:spcPct val="0"/>
              </a:spcBef>
            </a:pPr>
            <a:r>
              <a:rPr lang="en-US" b="true" sz="15094" spc="-633" strike="noStrike" u="none">
                <a:solidFill>
                  <a:srgbClr val="FFFFFF"/>
                </a:solidFill>
                <a:latin typeface="Kollektif Bold"/>
                <a:ea typeface="Kollektif Bold"/>
                <a:cs typeface="Kollektif Bold"/>
                <a:sym typeface="Kollektif Bold"/>
              </a:rPr>
              <a:t>introduction.</a:t>
            </a:r>
          </a:p>
        </p:txBody>
      </p:sp>
      <p:sp>
        <p:nvSpPr>
          <p:cNvPr name="TextBox 4" id="4"/>
          <p:cNvSpPr txBox="true"/>
          <p:nvPr/>
        </p:nvSpPr>
        <p:spPr>
          <a:xfrm rot="0">
            <a:off x="397488" y="3099325"/>
            <a:ext cx="17493025" cy="5218409"/>
          </a:xfrm>
          <a:prstGeom prst="rect">
            <a:avLst/>
          </a:prstGeom>
        </p:spPr>
        <p:txBody>
          <a:bodyPr anchor="t" rtlCol="false" tIns="0" lIns="0" bIns="0" rIns="0">
            <a:spAutoFit/>
          </a:bodyPr>
          <a:lstStyle/>
          <a:p>
            <a:pPr algn="just">
              <a:lnSpc>
                <a:spcPts val="3189"/>
              </a:lnSpc>
              <a:spcBef>
                <a:spcPct val="0"/>
              </a:spcBef>
            </a:pPr>
            <a:r>
              <a:rPr lang="en-US" b="true" sz="2453">
                <a:solidFill>
                  <a:srgbClr val="FFFFFF"/>
                </a:solidFill>
                <a:latin typeface="Kollektif Bold"/>
                <a:ea typeface="Kollektif Bold"/>
                <a:cs typeface="Kollektif Bold"/>
                <a:sym typeface="Kollektif Bold"/>
              </a:rPr>
              <a:t>The Autonomous Accident Detection and Emergency Communication System is developed to improve road safety by providing immediate and reliable accident reporting without human intervention. The system continuously monitors vehicle dynamics using sensors such as accelerometers, gyroscopes, and vibration sensors to detect sudden impacts, rollovers, or abnormal motion patterns associated with road accidents. An embedded controller processes sensor data in real time to accurately determine accident conditions while minimizing false alerts.</a:t>
            </a:r>
          </a:p>
          <a:p>
            <a:pPr algn="just">
              <a:lnSpc>
                <a:spcPts val="3189"/>
              </a:lnSpc>
              <a:spcBef>
                <a:spcPct val="0"/>
              </a:spcBef>
            </a:pPr>
            <a:r>
              <a:rPr lang="en-US" b="true" sz="2453">
                <a:solidFill>
                  <a:srgbClr val="FFFFFF"/>
                </a:solidFill>
                <a:latin typeface="Kollektif Bold"/>
                <a:ea typeface="Kollektif Bold"/>
                <a:cs typeface="Kollektif Bold"/>
                <a:sym typeface="Kollektif Bold"/>
              </a:rPr>
              <a:t>Once an accident is detected, the system automatically activates an emergency communication module integrated with GPS and wireless networks to transmit vital information, including the exact location, time of occurrence, and severity of the crash, to emergency services, hospitals, or predefined contacts. This rapid information exchange nables faster dispatch of rescue teams and medical assistance.</a:t>
            </a:r>
          </a:p>
          <a:p>
            <a:pPr algn="just">
              <a:lnSpc>
                <a:spcPts val="3189"/>
              </a:lnSpc>
              <a:spcBef>
                <a:spcPct val="0"/>
              </a:spcBef>
            </a:pPr>
            <a:r>
              <a:rPr lang="en-US" b="true" sz="2453">
                <a:solidFill>
                  <a:srgbClr val="FFFFFF"/>
                </a:solidFill>
                <a:latin typeface="Kollektif Bold"/>
                <a:ea typeface="Kollektif Bold"/>
                <a:cs typeface="Kollektif Bold"/>
                <a:sym typeface="Kollektif Bold"/>
              </a:rPr>
              <a:t>The proposed system is especially beneficial in remote or high-traffic areas where manual accident reporting may be delayed. By reducing response time and ensuring timely medical intervention, the system significantly increases the chances of saving lives. Overall, the system contributes to intelligent transportation solutions by enhancing vehicle safety, emergency preparedness, and road accident management.</a:t>
            </a:r>
          </a:p>
        </p:txBody>
      </p:sp>
    </p:spTree>
  </p:cSld>
  <p:clrMapOvr>
    <a:masterClrMapping/>
  </p:clrMapOvr>
  <p:transition spd="slow">
    <p:push dir="l"/>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true" flipV="false" rot="0">
            <a:off x="-4584776" y="-1145434"/>
            <a:ext cx="22707876" cy="18563688"/>
          </a:xfrm>
          <a:custGeom>
            <a:avLst/>
            <a:gdLst/>
            <a:ahLst/>
            <a:cxnLst/>
            <a:rect r="r" b="b" t="t" l="l"/>
            <a:pathLst>
              <a:path h="18563688" w="22707876">
                <a:moveTo>
                  <a:pt x="22707876" y="0"/>
                </a:moveTo>
                <a:lnTo>
                  <a:pt x="0" y="0"/>
                </a:lnTo>
                <a:lnTo>
                  <a:pt x="0" y="18563688"/>
                </a:lnTo>
                <a:lnTo>
                  <a:pt x="22707876" y="18563688"/>
                </a:lnTo>
                <a:lnTo>
                  <a:pt x="22707876" y="0"/>
                </a:lnTo>
                <a:close/>
              </a:path>
            </a:pathLst>
          </a:custGeom>
          <a:blipFill>
            <a:blip r:embed="rId2"/>
            <a:stretch>
              <a:fillRect l="0" t="0" r="0" b="0"/>
            </a:stretch>
          </a:blipFill>
          <a:ln cap="sq">
            <a:noFill/>
            <a:prstDash val="solid"/>
            <a:miter/>
          </a:ln>
        </p:spPr>
      </p:sp>
      <p:sp>
        <p:nvSpPr>
          <p:cNvPr name="TextBox 3" id="3"/>
          <p:cNvSpPr txBox="true"/>
          <p:nvPr/>
        </p:nvSpPr>
        <p:spPr>
          <a:xfrm rot="0">
            <a:off x="514350" y="1114425"/>
            <a:ext cx="7711924" cy="903421"/>
          </a:xfrm>
          <a:prstGeom prst="rect">
            <a:avLst/>
          </a:prstGeom>
        </p:spPr>
        <p:txBody>
          <a:bodyPr anchor="t" rtlCol="false" tIns="0" lIns="0" bIns="0" rIns="0">
            <a:spAutoFit/>
          </a:bodyPr>
          <a:lstStyle/>
          <a:p>
            <a:pPr algn="ctr">
              <a:lnSpc>
                <a:spcPts val="6750"/>
              </a:lnSpc>
            </a:pPr>
            <a:r>
              <a:rPr lang="en-US" b="true" sz="6490" spc="-19">
                <a:solidFill>
                  <a:srgbClr val="FFFFFF"/>
                </a:solidFill>
                <a:latin typeface="Kollektif Bold"/>
                <a:ea typeface="Kollektif Bold"/>
                <a:cs typeface="Kollektif Bold"/>
                <a:sym typeface="Kollektif Bold"/>
              </a:rPr>
              <a:t>Problem Statement:</a:t>
            </a:r>
          </a:p>
        </p:txBody>
      </p:sp>
      <p:sp>
        <p:nvSpPr>
          <p:cNvPr name="TextBox 4" id="4"/>
          <p:cNvSpPr txBox="true"/>
          <p:nvPr/>
        </p:nvSpPr>
        <p:spPr>
          <a:xfrm rot="0">
            <a:off x="514350" y="3743728"/>
            <a:ext cx="17259300" cy="2856695"/>
          </a:xfrm>
          <a:prstGeom prst="rect">
            <a:avLst/>
          </a:prstGeom>
        </p:spPr>
        <p:txBody>
          <a:bodyPr anchor="t" rtlCol="false" tIns="0" lIns="0" bIns="0" rIns="0">
            <a:spAutoFit/>
          </a:bodyPr>
          <a:lstStyle/>
          <a:p>
            <a:pPr algn="l">
              <a:lnSpc>
                <a:spcPts val="3237"/>
              </a:lnSpc>
              <a:spcBef>
                <a:spcPct val="0"/>
              </a:spcBef>
            </a:pPr>
            <a:r>
              <a:rPr lang="en-US" b="true" sz="3237" spc="-135">
                <a:solidFill>
                  <a:srgbClr val="FFFFFF"/>
                </a:solidFill>
                <a:latin typeface="Kollektif Bold"/>
                <a:ea typeface="Kollektif Bold"/>
                <a:cs typeface="Kollektif Bold"/>
                <a:sym typeface="Kollektif Bold"/>
              </a:rPr>
              <a:t>Road accidents are one of the leading causes of injury and death, especially in situations where immediate medical assistance is not available. In many cases, accident victims are unable to call for help due to unconsciousness or severe injuries, leading to delays in emergency response. Existing emergency systems mainly depend on human intervention, which is unreliable during critical situations. Hence, there is a need for an autonomous system that can automatically detect road accidents and instantly communicate the location and severity of the accident to emergency services and nearby contacts to reduce response time and save lives. </a:t>
            </a:r>
          </a:p>
        </p:txBody>
      </p:sp>
    </p:spTree>
  </p:cSld>
  <p:clrMapOvr>
    <a:masterClrMapping/>
  </p:clrMapOvr>
  <p:transition spd="slow">
    <p:push dir="l"/>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2058792">
            <a:off x="1509546" y="-8868033"/>
            <a:ext cx="21340665" cy="19793467"/>
          </a:xfrm>
          <a:custGeom>
            <a:avLst/>
            <a:gdLst/>
            <a:ahLst/>
            <a:cxnLst/>
            <a:rect r="r" b="b" t="t" l="l"/>
            <a:pathLst>
              <a:path h="19793467" w="21340665">
                <a:moveTo>
                  <a:pt x="0" y="0"/>
                </a:moveTo>
                <a:lnTo>
                  <a:pt x="21340665" y="0"/>
                </a:lnTo>
                <a:lnTo>
                  <a:pt x="21340665" y="19793466"/>
                </a:lnTo>
                <a:lnTo>
                  <a:pt x="0" y="19793466"/>
                </a:lnTo>
                <a:lnTo>
                  <a:pt x="0" y="0"/>
                </a:lnTo>
                <a:close/>
              </a:path>
            </a:pathLst>
          </a:custGeom>
          <a:blipFill>
            <a:blip r:embed="rId2"/>
            <a:stretch>
              <a:fillRect l="0" t="0" r="0" b="0"/>
            </a:stretch>
          </a:blipFill>
          <a:ln cap="sq">
            <a:noFill/>
            <a:prstDash val="solid"/>
            <a:miter/>
          </a:ln>
        </p:spPr>
      </p:sp>
      <p:sp>
        <p:nvSpPr>
          <p:cNvPr name="TextBox 3" id="3"/>
          <p:cNvSpPr txBox="true"/>
          <p:nvPr/>
        </p:nvSpPr>
        <p:spPr>
          <a:xfrm rot="0">
            <a:off x="1028700" y="1095375"/>
            <a:ext cx="4010027" cy="525059"/>
          </a:xfrm>
          <a:prstGeom prst="rect">
            <a:avLst/>
          </a:prstGeom>
        </p:spPr>
        <p:txBody>
          <a:bodyPr anchor="t" rtlCol="false" tIns="0" lIns="0" bIns="0" rIns="0">
            <a:spAutoFit/>
          </a:bodyPr>
          <a:lstStyle/>
          <a:p>
            <a:pPr algn="ctr">
              <a:lnSpc>
                <a:spcPts val="4001"/>
              </a:lnSpc>
              <a:spcBef>
                <a:spcPct val="0"/>
              </a:spcBef>
            </a:pPr>
            <a:r>
              <a:rPr lang="en-US" b="true" sz="4001" spc="-168">
                <a:solidFill>
                  <a:srgbClr val="FFFFFF"/>
                </a:solidFill>
                <a:latin typeface="Kollektif Bold"/>
                <a:ea typeface="Kollektif Bold"/>
                <a:cs typeface="Kollektif Bold"/>
                <a:sym typeface="Kollektif Bold"/>
              </a:rPr>
              <a:t>Literature Survey:</a:t>
            </a:r>
          </a:p>
        </p:txBody>
      </p:sp>
      <p:sp>
        <p:nvSpPr>
          <p:cNvPr name="TextBox 4" id="4"/>
          <p:cNvSpPr txBox="true"/>
          <p:nvPr/>
        </p:nvSpPr>
        <p:spPr>
          <a:xfrm rot="0">
            <a:off x="1028700" y="3262609"/>
            <a:ext cx="16797933" cy="2855527"/>
          </a:xfrm>
          <a:prstGeom prst="rect">
            <a:avLst/>
          </a:prstGeom>
        </p:spPr>
        <p:txBody>
          <a:bodyPr anchor="t" rtlCol="false" tIns="0" lIns="0" bIns="0" rIns="0">
            <a:spAutoFit/>
          </a:bodyPr>
          <a:lstStyle/>
          <a:p>
            <a:pPr algn="l">
              <a:lnSpc>
                <a:spcPts val="2547"/>
              </a:lnSpc>
              <a:spcBef>
                <a:spcPct val="0"/>
              </a:spcBef>
            </a:pPr>
            <a:r>
              <a:rPr lang="en-US" b="true" sz="2547" spc="-106">
                <a:solidFill>
                  <a:srgbClr val="FFFFFF"/>
                </a:solidFill>
                <a:latin typeface="Kollektif Bold"/>
                <a:ea typeface="Kollektif Bold"/>
                <a:cs typeface="Kollektif Bold"/>
                <a:sym typeface="Kollektif Bold"/>
              </a:rPr>
              <a:t>Several studies have proposed sensor-based accident detection systems using accelerometers to identify sudden impacts.</a:t>
            </a:r>
          </a:p>
          <a:p>
            <a:pPr algn="l">
              <a:lnSpc>
                <a:spcPts val="2547"/>
              </a:lnSpc>
              <a:spcBef>
                <a:spcPct val="0"/>
              </a:spcBef>
            </a:pPr>
          </a:p>
          <a:p>
            <a:pPr algn="l">
              <a:lnSpc>
                <a:spcPts val="2547"/>
              </a:lnSpc>
              <a:spcBef>
                <a:spcPct val="0"/>
              </a:spcBef>
            </a:pPr>
            <a:r>
              <a:rPr lang="en-US" b="true" sz="2547" spc="-106">
                <a:solidFill>
                  <a:srgbClr val="FFFFFF"/>
                </a:solidFill>
                <a:latin typeface="Kollektif Bold"/>
                <a:ea typeface="Kollektif Bold"/>
                <a:cs typeface="Kollektif Bold"/>
                <a:sym typeface="Kollektif Bold"/>
              </a:rPr>
              <a:t>To improve detection accuracy, gyroscopes and vibration sensors are combined to detect rollovers and abnormal motion.</a:t>
            </a:r>
          </a:p>
          <a:p>
            <a:pPr algn="l">
              <a:lnSpc>
                <a:spcPts val="2547"/>
              </a:lnSpc>
              <a:spcBef>
                <a:spcPct val="0"/>
              </a:spcBef>
            </a:pPr>
          </a:p>
          <a:p>
            <a:pPr algn="l">
              <a:lnSpc>
                <a:spcPts val="2547"/>
              </a:lnSpc>
              <a:spcBef>
                <a:spcPct val="0"/>
              </a:spcBef>
            </a:pPr>
            <a:r>
              <a:rPr lang="en-US" b="true" sz="2547" spc="-106">
                <a:solidFill>
                  <a:srgbClr val="FFFFFF"/>
                </a:solidFill>
                <a:latin typeface="Kollektif Bold"/>
                <a:ea typeface="Kollektif Bold"/>
                <a:cs typeface="Kollektif Bold"/>
                <a:sym typeface="Kollektif Bold"/>
              </a:rPr>
              <a:t>GPS and GSM modules are widely used to send accident location and alert messages to emergency services.</a:t>
            </a:r>
          </a:p>
          <a:p>
            <a:pPr algn="l">
              <a:lnSpc>
                <a:spcPts val="2547"/>
              </a:lnSpc>
              <a:spcBef>
                <a:spcPct val="0"/>
              </a:spcBef>
            </a:pPr>
          </a:p>
          <a:p>
            <a:pPr algn="l">
              <a:lnSpc>
                <a:spcPts val="2547"/>
              </a:lnSpc>
              <a:spcBef>
                <a:spcPct val="0"/>
              </a:spcBef>
            </a:pPr>
            <a:r>
              <a:rPr lang="en-US" b="true" sz="2547" spc="-106">
                <a:solidFill>
                  <a:srgbClr val="FFFFFF"/>
                </a:solidFill>
                <a:latin typeface="Kollektif Bold"/>
                <a:ea typeface="Kollektif Bold"/>
                <a:cs typeface="Kollektif Bold"/>
                <a:sym typeface="Kollektif Bold"/>
              </a:rPr>
              <a:t>Existing systems reduce response time but often suffer from false alerts, high cost, or limited reliability.</a:t>
            </a:r>
          </a:p>
          <a:p>
            <a:pPr algn="l">
              <a:lnSpc>
                <a:spcPts val="2547"/>
              </a:lnSpc>
              <a:spcBef>
                <a:spcPct val="0"/>
              </a:spcBef>
            </a:pPr>
          </a:p>
          <a:p>
            <a:pPr algn="l">
              <a:lnSpc>
                <a:spcPts val="2547"/>
              </a:lnSpc>
              <a:spcBef>
                <a:spcPct val="0"/>
              </a:spcBef>
            </a:pPr>
            <a:r>
              <a:rPr lang="en-US" b="true" sz="2547" spc="-106">
                <a:solidFill>
                  <a:srgbClr val="FFFFFF"/>
                </a:solidFill>
                <a:latin typeface="Kollektif Bold"/>
                <a:ea typeface="Kollektif Bold"/>
                <a:cs typeface="Kollektif Bold"/>
                <a:sym typeface="Kollektif Bold"/>
              </a:rPr>
              <a:t>These limitations highlight the need for a low-cost, accurate, and autonomous accident detection system</a:t>
            </a:r>
          </a:p>
        </p:txBody>
      </p:sp>
    </p:spTree>
  </p:cSld>
  <p:clrMapOvr>
    <a:masterClrMapping/>
  </p:clrMapOvr>
  <p:transition spd="slow">
    <p:push dir="l"/>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3560236" y="-894888"/>
            <a:ext cx="25931613" cy="25491416"/>
          </a:xfrm>
          <a:custGeom>
            <a:avLst/>
            <a:gdLst/>
            <a:ahLst/>
            <a:cxnLst/>
            <a:rect r="r" b="b" t="t" l="l"/>
            <a:pathLst>
              <a:path h="25491416" w="25931613">
                <a:moveTo>
                  <a:pt x="0" y="0"/>
                </a:moveTo>
                <a:lnTo>
                  <a:pt x="25931613" y="0"/>
                </a:lnTo>
                <a:lnTo>
                  <a:pt x="25931613" y="25491416"/>
                </a:lnTo>
                <a:lnTo>
                  <a:pt x="0" y="25491416"/>
                </a:lnTo>
                <a:lnTo>
                  <a:pt x="0" y="0"/>
                </a:lnTo>
                <a:close/>
              </a:path>
            </a:pathLst>
          </a:custGeom>
          <a:blipFill>
            <a:blip r:embed="rId2"/>
            <a:stretch>
              <a:fillRect l="0" t="0" r="-20247" b="0"/>
            </a:stretch>
          </a:blipFill>
          <a:ln cap="sq">
            <a:noFill/>
            <a:prstDash val="solid"/>
            <a:miter/>
          </a:ln>
        </p:spPr>
      </p:sp>
      <p:sp>
        <p:nvSpPr>
          <p:cNvPr name="Freeform 3" id="3"/>
          <p:cNvSpPr/>
          <p:nvPr/>
        </p:nvSpPr>
        <p:spPr>
          <a:xfrm flipH="false" flipV="false" rot="0">
            <a:off x="5433316" y="1424919"/>
            <a:ext cx="8445694" cy="7833381"/>
          </a:xfrm>
          <a:custGeom>
            <a:avLst/>
            <a:gdLst/>
            <a:ahLst/>
            <a:cxnLst/>
            <a:rect r="r" b="b" t="t" l="l"/>
            <a:pathLst>
              <a:path h="7833381" w="8445694">
                <a:moveTo>
                  <a:pt x="0" y="0"/>
                </a:moveTo>
                <a:lnTo>
                  <a:pt x="8445694" y="0"/>
                </a:lnTo>
                <a:lnTo>
                  <a:pt x="8445694" y="7833381"/>
                </a:lnTo>
                <a:lnTo>
                  <a:pt x="0" y="7833381"/>
                </a:lnTo>
                <a:lnTo>
                  <a:pt x="0" y="0"/>
                </a:lnTo>
                <a:close/>
              </a:path>
            </a:pathLst>
          </a:custGeom>
          <a:blipFill>
            <a:blip r:embed="rId3"/>
            <a:stretch>
              <a:fillRect l="0" t="0" r="0" b="0"/>
            </a:stretch>
          </a:blipFill>
        </p:spPr>
      </p:sp>
      <p:sp>
        <p:nvSpPr>
          <p:cNvPr name="TextBox 4" id="4"/>
          <p:cNvSpPr txBox="true"/>
          <p:nvPr/>
        </p:nvSpPr>
        <p:spPr>
          <a:xfrm rot="0">
            <a:off x="1028700" y="384175"/>
            <a:ext cx="3572371" cy="644525"/>
          </a:xfrm>
          <a:prstGeom prst="rect">
            <a:avLst/>
          </a:prstGeom>
        </p:spPr>
        <p:txBody>
          <a:bodyPr anchor="t" rtlCol="false" tIns="0" lIns="0" bIns="0" rIns="0">
            <a:spAutoFit/>
          </a:bodyPr>
          <a:lstStyle/>
          <a:p>
            <a:pPr algn="ctr">
              <a:lnSpc>
                <a:spcPts val="5199"/>
              </a:lnSpc>
              <a:spcBef>
                <a:spcPct val="0"/>
              </a:spcBef>
            </a:pPr>
            <a:r>
              <a:rPr lang="en-US" b="true" sz="3999">
                <a:solidFill>
                  <a:srgbClr val="FFFFFF"/>
                </a:solidFill>
                <a:latin typeface="Kollektif Bold"/>
                <a:ea typeface="Kollektif Bold"/>
                <a:cs typeface="Kollektif Bold"/>
                <a:sym typeface="Kollektif Bold"/>
              </a:rPr>
              <a:t>Block Diagram:</a:t>
            </a:r>
          </a:p>
        </p:txBody>
      </p:sp>
    </p:spTree>
  </p:cSld>
  <p:clrMapOvr>
    <a:masterClrMapping/>
  </p:clrMapOvr>
  <p:transition spd="slow">
    <p:push dir="l"/>
  </p:transition>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646023" y="-2735679"/>
            <a:ext cx="20787936" cy="17747701"/>
          </a:xfrm>
          <a:custGeom>
            <a:avLst/>
            <a:gdLst/>
            <a:ahLst/>
            <a:cxnLst/>
            <a:rect r="r" b="b" t="t" l="l"/>
            <a:pathLst>
              <a:path h="17747701" w="20787936">
                <a:moveTo>
                  <a:pt x="0" y="0"/>
                </a:moveTo>
                <a:lnTo>
                  <a:pt x="20787936" y="0"/>
                </a:lnTo>
                <a:lnTo>
                  <a:pt x="20787936" y="17747701"/>
                </a:lnTo>
                <a:lnTo>
                  <a:pt x="0" y="17747701"/>
                </a:lnTo>
                <a:lnTo>
                  <a:pt x="0" y="0"/>
                </a:lnTo>
                <a:close/>
              </a:path>
            </a:pathLst>
          </a:custGeom>
          <a:blipFill>
            <a:blip r:embed="rId2"/>
            <a:stretch>
              <a:fillRect l="0" t="0" r="0" b="0"/>
            </a:stretch>
          </a:blipFill>
        </p:spPr>
      </p:sp>
      <p:sp>
        <p:nvSpPr>
          <p:cNvPr name="Freeform 3" id="3"/>
          <p:cNvSpPr/>
          <p:nvPr/>
        </p:nvSpPr>
        <p:spPr>
          <a:xfrm flipH="false" flipV="false" rot="0">
            <a:off x="1922836" y="2763172"/>
            <a:ext cx="13826361" cy="5824354"/>
          </a:xfrm>
          <a:custGeom>
            <a:avLst/>
            <a:gdLst/>
            <a:ahLst/>
            <a:cxnLst/>
            <a:rect r="r" b="b" t="t" l="l"/>
            <a:pathLst>
              <a:path h="5824354" w="13826361">
                <a:moveTo>
                  <a:pt x="0" y="0"/>
                </a:moveTo>
                <a:lnTo>
                  <a:pt x="13826361" y="0"/>
                </a:lnTo>
                <a:lnTo>
                  <a:pt x="13826361" y="5824355"/>
                </a:lnTo>
                <a:lnTo>
                  <a:pt x="0" y="5824355"/>
                </a:lnTo>
                <a:lnTo>
                  <a:pt x="0" y="0"/>
                </a:lnTo>
                <a:close/>
              </a:path>
            </a:pathLst>
          </a:custGeom>
          <a:blipFill>
            <a:blip r:embed="rId3"/>
            <a:stretch>
              <a:fillRect l="0" t="0" r="0" b="0"/>
            </a:stretch>
          </a:blipFill>
        </p:spPr>
      </p:sp>
      <p:sp>
        <p:nvSpPr>
          <p:cNvPr name="TextBox 4" id="4"/>
          <p:cNvSpPr txBox="true"/>
          <p:nvPr/>
        </p:nvSpPr>
        <p:spPr>
          <a:xfrm rot="0">
            <a:off x="1339298" y="1104900"/>
            <a:ext cx="4013626" cy="1035048"/>
          </a:xfrm>
          <a:prstGeom prst="rect">
            <a:avLst/>
          </a:prstGeom>
        </p:spPr>
        <p:txBody>
          <a:bodyPr anchor="t" rtlCol="false" tIns="0" lIns="0" bIns="0" rIns="0">
            <a:spAutoFit/>
          </a:bodyPr>
          <a:lstStyle/>
          <a:p>
            <a:pPr algn="ctr">
              <a:lnSpc>
                <a:spcPts val="3999"/>
              </a:lnSpc>
              <a:spcBef>
                <a:spcPct val="0"/>
              </a:spcBef>
            </a:pPr>
            <a:r>
              <a:rPr lang="en-US" b="true" sz="3999" spc="-167">
                <a:solidFill>
                  <a:srgbClr val="FFFFFF"/>
                </a:solidFill>
                <a:latin typeface="Kollektif Bold"/>
                <a:ea typeface="Kollektif Bold"/>
                <a:cs typeface="Kollektif Bold"/>
                <a:sym typeface="Kollektif Bold"/>
              </a:rPr>
              <a:t>Methodology:</a:t>
            </a:r>
          </a:p>
          <a:p>
            <a:pPr algn="ctr">
              <a:lnSpc>
                <a:spcPts val="3999"/>
              </a:lnSpc>
              <a:spcBef>
                <a:spcPct val="0"/>
              </a:spcBef>
            </a:pPr>
            <a:r>
              <a:rPr lang="en-US" b="true" sz="3999" spc="-167">
                <a:solidFill>
                  <a:srgbClr val="FFFFFF"/>
                </a:solidFill>
                <a:latin typeface="Kollektif Bold"/>
                <a:ea typeface="Kollektif Bold"/>
                <a:cs typeface="Kollektif Bold"/>
                <a:sym typeface="Kollektif Bold"/>
              </a:rPr>
              <a:t> </a:t>
            </a:r>
          </a:p>
        </p:txBody>
      </p:sp>
    </p:spTree>
  </p:cSld>
  <p:clrMapOvr>
    <a:masterClrMapping/>
  </p:clrMapOvr>
  <p:transition spd="slow">
    <p:push dir="l"/>
  </p:transition>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9144000" y="2139950"/>
            <a:ext cx="14664318" cy="12507441"/>
          </a:xfrm>
          <a:custGeom>
            <a:avLst/>
            <a:gdLst/>
            <a:ahLst/>
            <a:cxnLst/>
            <a:rect r="r" b="b" t="t" l="l"/>
            <a:pathLst>
              <a:path h="12507441" w="14664318">
                <a:moveTo>
                  <a:pt x="0" y="0"/>
                </a:moveTo>
                <a:lnTo>
                  <a:pt x="14664318" y="0"/>
                </a:lnTo>
                <a:lnTo>
                  <a:pt x="14664318" y="12507441"/>
                </a:lnTo>
                <a:lnTo>
                  <a:pt x="0" y="12507441"/>
                </a:lnTo>
                <a:lnTo>
                  <a:pt x="0" y="0"/>
                </a:lnTo>
                <a:close/>
              </a:path>
            </a:pathLst>
          </a:custGeom>
          <a:blipFill>
            <a:blip r:embed="rId2"/>
            <a:stretch>
              <a:fillRect l="0" t="0" r="0" b="0"/>
            </a:stretch>
          </a:blipFill>
        </p:spPr>
      </p:sp>
      <p:sp>
        <p:nvSpPr>
          <p:cNvPr name="TextBox 3" id="3"/>
          <p:cNvSpPr txBox="true"/>
          <p:nvPr/>
        </p:nvSpPr>
        <p:spPr>
          <a:xfrm rot="0">
            <a:off x="564368" y="1104900"/>
            <a:ext cx="8579632" cy="1035050"/>
          </a:xfrm>
          <a:prstGeom prst="rect">
            <a:avLst/>
          </a:prstGeom>
        </p:spPr>
        <p:txBody>
          <a:bodyPr anchor="t" rtlCol="false" tIns="0" lIns="0" bIns="0" rIns="0">
            <a:spAutoFit/>
          </a:bodyPr>
          <a:lstStyle/>
          <a:p>
            <a:pPr algn="ctr">
              <a:lnSpc>
                <a:spcPts val="3999"/>
              </a:lnSpc>
              <a:spcBef>
                <a:spcPct val="0"/>
              </a:spcBef>
            </a:pPr>
            <a:r>
              <a:rPr lang="en-US" b="true" sz="3999" spc="-167">
                <a:solidFill>
                  <a:srgbClr val="FFFFFF"/>
                </a:solidFill>
                <a:latin typeface="Kollektif Bold"/>
                <a:ea typeface="Kollektif Bold"/>
                <a:cs typeface="Kollektif Bold"/>
                <a:sym typeface="Kollektif Bold"/>
              </a:rPr>
              <a:t>Expected Output / System Operation</a:t>
            </a:r>
          </a:p>
          <a:p>
            <a:pPr algn="ctr">
              <a:lnSpc>
                <a:spcPts val="3999"/>
              </a:lnSpc>
              <a:spcBef>
                <a:spcPct val="0"/>
              </a:spcBef>
            </a:pPr>
            <a:r>
              <a:rPr lang="en-US" b="true" sz="3999" spc="-167">
                <a:solidFill>
                  <a:srgbClr val="FFFFFF"/>
                </a:solidFill>
                <a:latin typeface="Kollektif Bold"/>
                <a:ea typeface="Kollektif Bold"/>
                <a:cs typeface="Kollektif Bold"/>
                <a:sym typeface="Kollektif Bold"/>
              </a:rPr>
              <a:t> </a:t>
            </a:r>
          </a:p>
        </p:txBody>
      </p:sp>
      <p:sp>
        <p:nvSpPr>
          <p:cNvPr name="TextBox 4" id="4"/>
          <p:cNvSpPr txBox="true"/>
          <p:nvPr/>
        </p:nvSpPr>
        <p:spPr>
          <a:xfrm rot="0">
            <a:off x="531364" y="3339648"/>
            <a:ext cx="16230600" cy="3086633"/>
          </a:xfrm>
          <a:prstGeom prst="rect">
            <a:avLst/>
          </a:prstGeom>
        </p:spPr>
        <p:txBody>
          <a:bodyPr anchor="t" rtlCol="false" tIns="0" lIns="0" bIns="0" rIns="0">
            <a:spAutoFit/>
          </a:bodyPr>
          <a:lstStyle/>
          <a:p>
            <a:pPr algn="l">
              <a:lnSpc>
                <a:spcPts val="2705"/>
              </a:lnSpc>
              <a:spcBef>
                <a:spcPct val="0"/>
              </a:spcBef>
            </a:pPr>
            <a:r>
              <a:rPr lang="en-US" sz="2705" spc="-113">
                <a:solidFill>
                  <a:srgbClr val="FFFFFF"/>
                </a:solidFill>
                <a:latin typeface="Kollektif"/>
                <a:ea typeface="Kollektif"/>
                <a:cs typeface="Kollektif"/>
                <a:sym typeface="Kollektif"/>
              </a:rPr>
              <a:t>When a vehicle meets with an accident in a forest or other remote area, the AADECS system is automatically activated.</a:t>
            </a:r>
          </a:p>
          <a:p>
            <a:pPr algn="l">
              <a:lnSpc>
                <a:spcPts val="2705"/>
              </a:lnSpc>
              <a:spcBef>
                <a:spcPct val="0"/>
              </a:spcBef>
            </a:pPr>
            <a:r>
              <a:rPr lang="en-US" sz="2705" spc="-113">
                <a:solidFill>
                  <a:srgbClr val="FFFFFF"/>
                </a:solidFill>
                <a:latin typeface="Kollektif"/>
                <a:ea typeface="Kollektif"/>
                <a:cs typeface="Kollektif"/>
                <a:sym typeface="Kollektif"/>
              </a:rPr>
              <a:t>Accident Detection</a:t>
            </a:r>
          </a:p>
          <a:p>
            <a:pPr algn="l">
              <a:lnSpc>
                <a:spcPts val="2705"/>
              </a:lnSpc>
              <a:spcBef>
                <a:spcPct val="0"/>
              </a:spcBef>
            </a:pPr>
            <a:r>
              <a:rPr lang="en-US" sz="2705" spc="-113">
                <a:solidFill>
                  <a:srgbClr val="FFFFFF"/>
                </a:solidFill>
                <a:latin typeface="Kollektif"/>
                <a:ea typeface="Kollektif"/>
                <a:cs typeface="Kollektif"/>
                <a:sym typeface="Kollektif"/>
              </a:rPr>
              <a:t>The onboard emergency device detects a crash using sensors and immediately triggers the response protocol.</a:t>
            </a:r>
          </a:p>
          <a:p>
            <a:pPr algn="l">
              <a:lnSpc>
                <a:spcPts val="2705"/>
              </a:lnSpc>
              <a:spcBef>
                <a:spcPct val="0"/>
              </a:spcBef>
            </a:pPr>
            <a:r>
              <a:rPr lang="en-US" sz="2705" spc="-113">
                <a:solidFill>
                  <a:srgbClr val="FFFFFF"/>
                </a:solidFill>
                <a:latin typeface="Kollektif"/>
                <a:ea typeface="Kollektif"/>
                <a:cs typeface="Kollektif"/>
                <a:sym typeface="Kollektif"/>
              </a:rPr>
              <a:t>User Verification Call</a:t>
            </a:r>
          </a:p>
          <a:p>
            <a:pPr algn="l">
              <a:lnSpc>
                <a:spcPts val="2705"/>
              </a:lnSpc>
              <a:spcBef>
                <a:spcPct val="0"/>
              </a:spcBef>
            </a:pPr>
            <a:r>
              <a:rPr lang="en-US" sz="2705" spc="-113">
                <a:solidFill>
                  <a:srgbClr val="FFFFFF"/>
                </a:solidFill>
                <a:latin typeface="Kollektif"/>
                <a:ea typeface="Kollektif"/>
                <a:cs typeface="Kollektif"/>
                <a:sym typeface="Kollektif"/>
              </a:rPr>
              <a:t>The system first places an automatic call to the vehicle user to verify their condition.</a:t>
            </a:r>
          </a:p>
          <a:p>
            <a:pPr algn="l">
              <a:lnSpc>
                <a:spcPts val="2705"/>
              </a:lnSpc>
              <a:spcBef>
                <a:spcPct val="0"/>
              </a:spcBef>
            </a:pPr>
            <a:r>
              <a:rPr lang="en-US" sz="2705" spc="-113">
                <a:solidFill>
                  <a:srgbClr val="FFFFFF"/>
                </a:solidFill>
                <a:latin typeface="Kollektif"/>
                <a:ea typeface="Kollektif"/>
                <a:cs typeface="Kollektif"/>
                <a:sym typeface="Kollektif"/>
              </a:rPr>
              <a:t>If the user responds, the system asks whether medical assistance is required.</a:t>
            </a:r>
          </a:p>
          <a:p>
            <a:pPr algn="l">
              <a:lnSpc>
                <a:spcPts val="2705"/>
              </a:lnSpc>
              <a:spcBef>
                <a:spcPct val="0"/>
              </a:spcBef>
            </a:pPr>
            <a:r>
              <a:rPr lang="en-US" sz="2705" spc="-113">
                <a:solidFill>
                  <a:srgbClr val="FFFFFF"/>
                </a:solidFill>
                <a:latin typeface="Kollektif"/>
                <a:ea typeface="Kollektif"/>
                <a:cs typeface="Kollektif"/>
                <a:sym typeface="Kollektif"/>
              </a:rPr>
              <a:t>Based on the user’s response, further action is taken.</a:t>
            </a:r>
          </a:p>
          <a:p>
            <a:pPr algn="l">
              <a:lnSpc>
                <a:spcPts val="2705"/>
              </a:lnSpc>
              <a:spcBef>
                <a:spcPct val="0"/>
              </a:spcBef>
            </a:pPr>
            <a:r>
              <a:rPr lang="en-US" sz="2705" spc="-113">
                <a:solidFill>
                  <a:srgbClr val="FFFFFF"/>
                </a:solidFill>
                <a:latin typeface="Kollektif"/>
                <a:ea typeface="Kollektif"/>
                <a:cs typeface="Kollektif"/>
                <a:sym typeface="Kollektif"/>
              </a:rPr>
              <a:t>No Response Scenario</a:t>
            </a:r>
          </a:p>
          <a:p>
            <a:pPr algn="l">
              <a:lnSpc>
                <a:spcPts val="2705"/>
              </a:lnSpc>
              <a:spcBef>
                <a:spcPct val="0"/>
              </a:spcBef>
            </a:pPr>
            <a:r>
              <a:rPr lang="en-US" sz="2705" spc="-113">
                <a:solidFill>
                  <a:srgbClr val="FFFFFF"/>
                </a:solidFill>
                <a:latin typeface="Kollektif"/>
                <a:ea typeface="Kollektif"/>
                <a:cs typeface="Kollektif"/>
                <a:sym typeface="Kollektif"/>
              </a:rPr>
              <a:t> If the user does not answer the call within a predefined time, the system assumes a critical emergency.</a:t>
            </a:r>
          </a:p>
        </p:txBody>
      </p:sp>
    </p:spTree>
  </p:cSld>
  <p:clrMapOvr>
    <a:masterClrMapping/>
  </p:clrMapOvr>
  <p:transition spd="slow">
    <p:push dir="l"/>
  </p:transition>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9144000" y="2139950"/>
            <a:ext cx="14664318" cy="12507441"/>
          </a:xfrm>
          <a:custGeom>
            <a:avLst/>
            <a:gdLst/>
            <a:ahLst/>
            <a:cxnLst/>
            <a:rect r="r" b="b" t="t" l="l"/>
            <a:pathLst>
              <a:path h="12507441" w="14664318">
                <a:moveTo>
                  <a:pt x="0" y="0"/>
                </a:moveTo>
                <a:lnTo>
                  <a:pt x="14664318" y="0"/>
                </a:lnTo>
                <a:lnTo>
                  <a:pt x="14664318" y="12507441"/>
                </a:lnTo>
                <a:lnTo>
                  <a:pt x="0" y="12507441"/>
                </a:lnTo>
                <a:lnTo>
                  <a:pt x="0" y="0"/>
                </a:lnTo>
                <a:close/>
              </a:path>
            </a:pathLst>
          </a:custGeom>
          <a:blipFill>
            <a:blip r:embed="rId2"/>
            <a:stretch>
              <a:fillRect l="0" t="0" r="0" b="0"/>
            </a:stretch>
          </a:blipFill>
        </p:spPr>
      </p:sp>
      <p:sp>
        <p:nvSpPr>
          <p:cNvPr name="TextBox 3" id="3"/>
          <p:cNvSpPr txBox="true"/>
          <p:nvPr/>
        </p:nvSpPr>
        <p:spPr>
          <a:xfrm rot="0">
            <a:off x="200123" y="2382838"/>
            <a:ext cx="17887755" cy="4867284"/>
          </a:xfrm>
          <a:prstGeom prst="rect">
            <a:avLst/>
          </a:prstGeom>
        </p:spPr>
        <p:txBody>
          <a:bodyPr anchor="t" rtlCol="false" tIns="0" lIns="0" bIns="0" rIns="0">
            <a:spAutoFit/>
          </a:bodyPr>
          <a:lstStyle/>
          <a:p>
            <a:pPr algn="just">
              <a:lnSpc>
                <a:spcPts val="3824"/>
              </a:lnSpc>
              <a:spcBef>
                <a:spcPct val="0"/>
              </a:spcBef>
            </a:pPr>
            <a:r>
              <a:rPr lang="en-US" b="true" sz="3824" spc="-160">
                <a:solidFill>
                  <a:srgbClr val="FFFFFF"/>
                </a:solidFill>
                <a:latin typeface="Kollektif Bold"/>
                <a:ea typeface="Kollektif Bold"/>
                <a:cs typeface="Kollektif Bold"/>
                <a:sym typeface="Kollektif Bold"/>
              </a:rPr>
              <a:t>No Response Scenario</a:t>
            </a:r>
          </a:p>
          <a:p>
            <a:pPr algn="just">
              <a:lnSpc>
                <a:spcPts val="3824"/>
              </a:lnSpc>
              <a:spcBef>
                <a:spcPct val="0"/>
              </a:spcBef>
            </a:pPr>
            <a:r>
              <a:rPr lang="en-US" b="true" sz="3824" spc="-160">
                <a:solidFill>
                  <a:srgbClr val="FFFFFF"/>
                </a:solidFill>
                <a:latin typeface="Kollektif Bold"/>
                <a:ea typeface="Kollektif Bold"/>
                <a:cs typeface="Kollektif Bold"/>
                <a:sym typeface="Kollektif Bold"/>
              </a:rPr>
              <a:t> If the user does not answer the call within a predefined time, the system assumes a critical emergency.</a:t>
            </a:r>
          </a:p>
          <a:p>
            <a:pPr algn="just">
              <a:lnSpc>
                <a:spcPts val="3824"/>
              </a:lnSpc>
              <a:spcBef>
                <a:spcPct val="0"/>
              </a:spcBef>
            </a:pPr>
            <a:r>
              <a:rPr lang="en-US" b="true" sz="3824" spc="-160">
                <a:solidFill>
                  <a:srgbClr val="FFFFFF"/>
                </a:solidFill>
                <a:latin typeface="Kollektif Bold"/>
                <a:ea typeface="Kollektif Bold"/>
                <a:cs typeface="Kollektif Bold"/>
                <a:sym typeface="Kollektif Bold"/>
              </a:rPr>
              <a:t>Emergency Communication</a:t>
            </a:r>
          </a:p>
          <a:p>
            <a:pPr algn="just">
              <a:lnSpc>
                <a:spcPts val="3824"/>
              </a:lnSpc>
              <a:spcBef>
                <a:spcPct val="0"/>
              </a:spcBef>
            </a:pPr>
            <a:r>
              <a:rPr lang="en-US" b="true" sz="3824" spc="-160">
                <a:solidFill>
                  <a:srgbClr val="FFFFFF"/>
                </a:solidFill>
                <a:latin typeface="Kollektif Bold"/>
                <a:ea typeface="Kollektif Bold"/>
                <a:cs typeface="Kollektif Bold"/>
                <a:sym typeface="Kollektif Bold"/>
              </a:rPr>
              <a:t> The device automatically sends the exact GPS location coordinates of the accident to:</a:t>
            </a:r>
          </a:p>
          <a:p>
            <a:pPr algn="just">
              <a:lnSpc>
                <a:spcPts val="3824"/>
              </a:lnSpc>
              <a:spcBef>
                <a:spcPct val="0"/>
              </a:spcBef>
            </a:pPr>
            <a:r>
              <a:rPr lang="en-US" b="true" sz="3824" spc="-160">
                <a:solidFill>
                  <a:srgbClr val="FFFFFF"/>
                </a:solidFill>
                <a:latin typeface="Kollektif Bold"/>
                <a:ea typeface="Kollektif Bold"/>
                <a:cs typeface="Kollektif Bold"/>
                <a:sym typeface="Kollektif Bold"/>
              </a:rPr>
              <a:t>The nearest hospitals</a:t>
            </a:r>
          </a:p>
          <a:p>
            <a:pPr algn="just">
              <a:lnSpc>
                <a:spcPts val="3824"/>
              </a:lnSpc>
              <a:spcBef>
                <a:spcPct val="0"/>
              </a:spcBef>
            </a:pPr>
            <a:r>
              <a:rPr lang="en-US" b="true" sz="3824" spc="-160">
                <a:solidFill>
                  <a:srgbClr val="FFFFFF"/>
                </a:solidFill>
                <a:latin typeface="Kollektif Bold"/>
                <a:ea typeface="Kollektif Bold"/>
                <a:cs typeface="Kollektif Bold"/>
                <a:sym typeface="Kollektif Bold"/>
              </a:rPr>
              <a:t>Emergency services (ambulance and rescue teams)</a:t>
            </a:r>
          </a:p>
          <a:p>
            <a:pPr algn="just">
              <a:lnSpc>
                <a:spcPts val="3824"/>
              </a:lnSpc>
              <a:spcBef>
                <a:spcPct val="0"/>
              </a:spcBef>
            </a:pPr>
            <a:r>
              <a:rPr lang="en-US" b="true" sz="3824" spc="-160">
                <a:solidFill>
                  <a:srgbClr val="FFFFFF"/>
                </a:solidFill>
                <a:latin typeface="Kollektif Bold"/>
                <a:ea typeface="Kollektif Bold"/>
                <a:cs typeface="Kollektif Bold"/>
                <a:sym typeface="Kollektif Bold"/>
              </a:rPr>
              <a:t>•Rescue Arrival</a:t>
            </a:r>
          </a:p>
          <a:p>
            <a:pPr algn="just">
              <a:lnSpc>
                <a:spcPts val="3824"/>
              </a:lnSpc>
              <a:spcBef>
                <a:spcPct val="0"/>
              </a:spcBef>
            </a:pPr>
            <a:r>
              <a:rPr lang="en-US" b="true" sz="3824" spc="-160">
                <a:solidFill>
                  <a:srgbClr val="FFFFFF"/>
                </a:solidFill>
                <a:latin typeface="Kollektif Bold"/>
                <a:ea typeface="Kollektif Bold"/>
                <a:cs typeface="Kollektif Bold"/>
                <a:sym typeface="Kollektif Bold"/>
              </a:rPr>
              <a:t> Emergency responders are dispatched to the accident location, ensuring timely medical assistance even in isolated forest regions.</a:t>
            </a:r>
          </a:p>
        </p:txBody>
      </p:sp>
    </p:spTree>
  </p:cSld>
  <p:clrMapOvr>
    <a:masterClrMapping/>
  </p:clrMapOvr>
  <p:transition spd="slow">
    <p:push dir="l"/>
  </p:transition>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2286023" y="-1889303"/>
            <a:ext cx="26629445" cy="22712698"/>
          </a:xfrm>
          <a:custGeom>
            <a:avLst/>
            <a:gdLst/>
            <a:ahLst/>
            <a:cxnLst/>
            <a:rect r="r" b="b" t="t" l="l"/>
            <a:pathLst>
              <a:path h="22712698" w="26629445">
                <a:moveTo>
                  <a:pt x="0" y="0"/>
                </a:moveTo>
                <a:lnTo>
                  <a:pt x="26629446" y="0"/>
                </a:lnTo>
                <a:lnTo>
                  <a:pt x="26629446" y="22712698"/>
                </a:lnTo>
                <a:lnTo>
                  <a:pt x="0" y="22712698"/>
                </a:lnTo>
                <a:lnTo>
                  <a:pt x="0" y="0"/>
                </a:lnTo>
                <a:close/>
              </a:path>
            </a:pathLst>
          </a:custGeom>
          <a:blipFill>
            <a:blip r:embed="rId2"/>
            <a:stretch>
              <a:fillRect l="0" t="0" r="0" b="0"/>
            </a:stretch>
          </a:blipFill>
          <a:ln cap="sq">
            <a:noFill/>
            <a:prstDash val="solid"/>
            <a:miter/>
          </a:ln>
        </p:spPr>
      </p:sp>
      <p:grpSp>
        <p:nvGrpSpPr>
          <p:cNvPr name="Group 3" id="3"/>
          <p:cNvGrpSpPr/>
          <p:nvPr/>
        </p:nvGrpSpPr>
        <p:grpSpPr>
          <a:xfrm rot="0">
            <a:off x="3355151" y="1028700"/>
            <a:ext cx="3124209" cy="3610774"/>
            <a:chOff x="0" y="0"/>
            <a:chExt cx="777483" cy="898569"/>
          </a:xfrm>
        </p:grpSpPr>
        <p:sp>
          <p:nvSpPr>
            <p:cNvPr name="Freeform 4" id="4"/>
            <p:cNvSpPr/>
            <p:nvPr/>
          </p:nvSpPr>
          <p:spPr>
            <a:xfrm flipH="false" flipV="false" rot="0">
              <a:off x="0" y="0"/>
              <a:ext cx="777483" cy="898569"/>
            </a:xfrm>
            <a:custGeom>
              <a:avLst/>
              <a:gdLst/>
              <a:ahLst/>
              <a:cxnLst/>
              <a:rect r="r" b="b" t="t" l="l"/>
              <a:pathLst>
                <a:path h="898569" w="777483">
                  <a:moveTo>
                    <a:pt x="56995" y="0"/>
                  </a:moveTo>
                  <a:lnTo>
                    <a:pt x="720488" y="0"/>
                  </a:lnTo>
                  <a:cubicBezTo>
                    <a:pt x="751966" y="0"/>
                    <a:pt x="777483" y="25518"/>
                    <a:pt x="777483" y="56995"/>
                  </a:cubicBezTo>
                  <a:lnTo>
                    <a:pt x="777483" y="841574"/>
                  </a:lnTo>
                  <a:cubicBezTo>
                    <a:pt x="777483" y="856690"/>
                    <a:pt x="771479" y="871187"/>
                    <a:pt x="760790" y="881875"/>
                  </a:cubicBezTo>
                  <a:cubicBezTo>
                    <a:pt x="750101" y="892564"/>
                    <a:pt x="735604" y="898569"/>
                    <a:pt x="720488" y="898569"/>
                  </a:cubicBezTo>
                  <a:lnTo>
                    <a:pt x="56995" y="898569"/>
                  </a:lnTo>
                  <a:cubicBezTo>
                    <a:pt x="25518" y="898569"/>
                    <a:pt x="0" y="873051"/>
                    <a:pt x="0" y="841574"/>
                  </a:cubicBezTo>
                  <a:lnTo>
                    <a:pt x="0" y="56995"/>
                  </a:lnTo>
                  <a:cubicBezTo>
                    <a:pt x="0" y="25518"/>
                    <a:pt x="25518" y="0"/>
                    <a:pt x="56995" y="0"/>
                  </a:cubicBezTo>
                  <a:close/>
                </a:path>
              </a:pathLst>
            </a:custGeom>
            <a:blipFill>
              <a:blip r:embed="rId3"/>
              <a:stretch>
                <a:fillRect l="-25015" t="0" r="-25015" b="0"/>
              </a:stretch>
            </a:blipFill>
          </p:spPr>
        </p:sp>
      </p:grpSp>
      <p:grpSp>
        <p:nvGrpSpPr>
          <p:cNvPr name="Group 5" id="5"/>
          <p:cNvGrpSpPr/>
          <p:nvPr/>
        </p:nvGrpSpPr>
        <p:grpSpPr>
          <a:xfrm rot="0">
            <a:off x="3665974" y="5046993"/>
            <a:ext cx="2502563" cy="3175765"/>
            <a:chOff x="0" y="0"/>
            <a:chExt cx="837972" cy="1063390"/>
          </a:xfrm>
        </p:grpSpPr>
        <p:sp>
          <p:nvSpPr>
            <p:cNvPr name="Freeform 6" id="6"/>
            <p:cNvSpPr/>
            <p:nvPr/>
          </p:nvSpPr>
          <p:spPr>
            <a:xfrm flipH="false" flipV="false" rot="0">
              <a:off x="0" y="0"/>
              <a:ext cx="837972" cy="1063390"/>
            </a:xfrm>
            <a:custGeom>
              <a:avLst/>
              <a:gdLst/>
              <a:ahLst/>
              <a:cxnLst/>
              <a:rect r="r" b="b" t="t" l="l"/>
              <a:pathLst>
                <a:path h="1063390" w="837972">
                  <a:moveTo>
                    <a:pt x="71153" y="0"/>
                  </a:moveTo>
                  <a:lnTo>
                    <a:pt x="766819" y="0"/>
                  </a:lnTo>
                  <a:cubicBezTo>
                    <a:pt x="785690" y="0"/>
                    <a:pt x="803788" y="7496"/>
                    <a:pt x="817132" y="20840"/>
                  </a:cubicBezTo>
                  <a:cubicBezTo>
                    <a:pt x="830475" y="34184"/>
                    <a:pt x="837972" y="52282"/>
                    <a:pt x="837972" y="71153"/>
                  </a:cubicBezTo>
                  <a:lnTo>
                    <a:pt x="837972" y="992238"/>
                  </a:lnTo>
                  <a:cubicBezTo>
                    <a:pt x="837972" y="1031534"/>
                    <a:pt x="806116" y="1063390"/>
                    <a:pt x="766819" y="1063390"/>
                  </a:cubicBezTo>
                  <a:lnTo>
                    <a:pt x="71153" y="1063390"/>
                  </a:lnTo>
                  <a:cubicBezTo>
                    <a:pt x="31856" y="1063390"/>
                    <a:pt x="0" y="1031534"/>
                    <a:pt x="0" y="992238"/>
                  </a:cubicBezTo>
                  <a:lnTo>
                    <a:pt x="0" y="71153"/>
                  </a:lnTo>
                  <a:cubicBezTo>
                    <a:pt x="0" y="31856"/>
                    <a:pt x="31856" y="0"/>
                    <a:pt x="71153" y="0"/>
                  </a:cubicBezTo>
                  <a:close/>
                </a:path>
              </a:pathLst>
            </a:custGeom>
            <a:blipFill>
              <a:blip r:embed="rId4"/>
              <a:stretch>
                <a:fillRect l="0" t="-433" r="0" b="-433"/>
              </a:stretch>
            </a:blipFill>
          </p:spPr>
        </p:sp>
      </p:grpSp>
      <p:grpSp>
        <p:nvGrpSpPr>
          <p:cNvPr name="Group 7" id="7"/>
          <p:cNvGrpSpPr/>
          <p:nvPr/>
        </p:nvGrpSpPr>
        <p:grpSpPr>
          <a:xfrm rot="0">
            <a:off x="7146098" y="979214"/>
            <a:ext cx="5482569" cy="3271814"/>
            <a:chOff x="0" y="0"/>
            <a:chExt cx="946427" cy="564796"/>
          </a:xfrm>
        </p:grpSpPr>
        <p:sp>
          <p:nvSpPr>
            <p:cNvPr name="Freeform 8" id="8"/>
            <p:cNvSpPr/>
            <p:nvPr/>
          </p:nvSpPr>
          <p:spPr>
            <a:xfrm flipH="false" flipV="false" rot="0">
              <a:off x="0" y="0"/>
              <a:ext cx="946427" cy="564796"/>
            </a:xfrm>
            <a:custGeom>
              <a:avLst/>
              <a:gdLst/>
              <a:ahLst/>
              <a:cxnLst/>
              <a:rect r="r" b="b" t="t" l="l"/>
              <a:pathLst>
                <a:path h="564796" w="946427">
                  <a:moveTo>
                    <a:pt x="32478" y="0"/>
                  </a:moveTo>
                  <a:lnTo>
                    <a:pt x="913949" y="0"/>
                  </a:lnTo>
                  <a:cubicBezTo>
                    <a:pt x="922563" y="0"/>
                    <a:pt x="930824" y="3422"/>
                    <a:pt x="936914" y="9513"/>
                  </a:cubicBezTo>
                  <a:cubicBezTo>
                    <a:pt x="943005" y="15604"/>
                    <a:pt x="946427" y="23864"/>
                    <a:pt x="946427" y="32478"/>
                  </a:cubicBezTo>
                  <a:lnTo>
                    <a:pt x="946427" y="532318"/>
                  </a:lnTo>
                  <a:cubicBezTo>
                    <a:pt x="946427" y="550255"/>
                    <a:pt x="931886" y="564796"/>
                    <a:pt x="913949" y="564796"/>
                  </a:cubicBezTo>
                  <a:lnTo>
                    <a:pt x="32478" y="564796"/>
                  </a:lnTo>
                  <a:cubicBezTo>
                    <a:pt x="23864" y="564796"/>
                    <a:pt x="15604" y="561374"/>
                    <a:pt x="9513" y="555283"/>
                  </a:cubicBezTo>
                  <a:cubicBezTo>
                    <a:pt x="3422" y="549193"/>
                    <a:pt x="0" y="540932"/>
                    <a:pt x="0" y="532318"/>
                  </a:cubicBezTo>
                  <a:lnTo>
                    <a:pt x="0" y="32478"/>
                  </a:lnTo>
                  <a:cubicBezTo>
                    <a:pt x="0" y="23864"/>
                    <a:pt x="3422" y="15604"/>
                    <a:pt x="9513" y="9513"/>
                  </a:cubicBezTo>
                  <a:cubicBezTo>
                    <a:pt x="15604" y="3422"/>
                    <a:pt x="23864" y="0"/>
                    <a:pt x="32478" y="0"/>
                  </a:cubicBezTo>
                  <a:close/>
                </a:path>
              </a:pathLst>
            </a:custGeom>
            <a:blipFill>
              <a:blip r:embed="rId5"/>
              <a:stretch>
                <a:fillRect l="-513" t="0" r="-513" b="0"/>
              </a:stretch>
            </a:blipFill>
          </p:spPr>
        </p:sp>
      </p:grpSp>
      <p:grpSp>
        <p:nvGrpSpPr>
          <p:cNvPr name="Group 9" id="9"/>
          <p:cNvGrpSpPr/>
          <p:nvPr/>
        </p:nvGrpSpPr>
        <p:grpSpPr>
          <a:xfrm rot="0">
            <a:off x="13113605" y="627024"/>
            <a:ext cx="4145695" cy="4233343"/>
            <a:chOff x="0" y="0"/>
            <a:chExt cx="1434444" cy="1464771"/>
          </a:xfrm>
        </p:grpSpPr>
        <p:sp>
          <p:nvSpPr>
            <p:cNvPr name="Freeform 10" id="10"/>
            <p:cNvSpPr/>
            <p:nvPr/>
          </p:nvSpPr>
          <p:spPr>
            <a:xfrm flipH="false" flipV="false" rot="0">
              <a:off x="0" y="0"/>
              <a:ext cx="1434444" cy="1464771"/>
            </a:xfrm>
            <a:custGeom>
              <a:avLst/>
              <a:gdLst/>
              <a:ahLst/>
              <a:cxnLst/>
              <a:rect r="r" b="b" t="t" l="l"/>
              <a:pathLst>
                <a:path h="1464771" w="1434444">
                  <a:moveTo>
                    <a:pt x="42952" y="0"/>
                  </a:moveTo>
                  <a:lnTo>
                    <a:pt x="1391492" y="0"/>
                  </a:lnTo>
                  <a:cubicBezTo>
                    <a:pt x="1415214" y="0"/>
                    <a:pt x="1434444" y="19230"/>
                    <a:pt x="1434444" y="42952"/>
                  </a:cubicBezTo>
                  <a:lnTo>
                    <a:pt x="1434444" y="1421819"/>
                  </a:lnTo>
                  <a:cubicBezTo>
                    <a:pt x="1434444" y="1445541"/>
                    <a:pt x="1415214" y="1464771"/>
                    <a:pt x="1391492" y="1464771"/>
                  </a:cubicBezTo>
                  <a:lnTo>
                    <a:pt x="42952" y="1464771"/>
                  </a:lnTo>
                  <a:cubicBezTo>
                    <a:pt x="19230" y="1464771"/>
                    <a:pt x="0" y="1445541"/>
                    <a:pt x="0" y="1421819"/>
                  </a:cubicBezTo>
                  <a:lnTo>
                    <a:pt x="0" y="42952"/>
                  </a:lnTo>
                  <a:cubicBezTo>
                    <a:pt x="0" y="19230"/>
                    <a:pt x="19230" y="0"/>
                    <a:pt x="42952" y="0"/>
                  </a:cubicBezTo>
                  <a:close/>
                </a:path>
              </a:pathLst>
            </a:custGeom>
            <a:blipFill>
              <a:blip r:embed="rId6"/>
              <a:stretch>
                <a:fillRect l="-10651" t="0" r="-10651" b="0"/>
              </a:stretch>
            </a:blipFill>
          </p:spPr>
        </p:sp>
      </p:grpSp>
      <p:grpSp>
        <p:nvGrpSpPr>
          <p:cNvPr name="Group 11" id="11"/>
          <p:cNvGrpSpPr/>
          <p:nvPr/>
        </p:nvGrpSpPr>
        <p:grpSpPr>
          <a:xfrm rot="0">
            <a:off x="7146098" y="4860367"/>
            <a:ext cx="5482569" cy="3214699"/>
            <a:chOff x="0" y="0"/>
            <a:chExt cx="946427" cy="554937"/>
          </a:xfrm>
        </p:grpSpPr>
        <p:sp>
          <p:nvSpPr>
            <p:cNvPr name="Freeform 12" id="12"/>
            <p:cNvSpPr/>
            <p:nvPr/>
          </p:nvSpPr>
          <p:spPr>
            <a:xfrm flipH="false" flipV="false" rot="0">
              <a:off x="0" y="0"/>
              <a:ext cx="946427" cy="554937"/>
            </a:xfrm>
            <a:custGeom>
              <a:avLst/>
              <a:gdLst/>
              <a:ahLst/>
              <a:cxnLst/>
              <a:rect r="r" b="b" t="t" l="l"/>
              <a:pathLst>
                <a:path h="554937" w="946427">
                  <a:moveTo>
                    <a:pt x="32478" y="0"/>
                  </a:moveTo>
                  <a:lnTo>
                    <a:pt x="913949" y="0"/>
                  </a:lnTo>
                  <a:cubicBezTo>
                    <a:pt x="922563" y="0"/>
                    <a:pt x="930824" y="3422"/>
                    <a:pt x="936914" y="9513"/>
                  </a:cubicBezTo>
                  <a:cubicBezTo>
                    <a:pt x="943005" y="15604"/>
                    <a:pt x="946427" y="23864"/>
                    <a:pt x="946427" y="32478"/>
                  </a:cubicBezTo>
                  <a:lnTo>
                    <a:pt x="946427" y="522458"/>
                  </a:lnTo>
                  <a:cubicBezTo>
                    <a:pt x="946427" y="531072"/>
                    <a:pt x="943005" y="539333"/>
                    <a:pt x="936914" y="545424"/>
                  </a:cubicBezTo>
                  <a:cubicBezTo>
                    <a:pt x="930824" y="551515"/>
                    <a:pt x="922563" y="554937"/>
                    <a:pt x="913949" y="554937"/>
                  </a:cubicBezTo>
                  <a:lnTo>
                    <a:pt x="32478" y="554937"/>
                  </a:lnTo>
                  <a:cubicBezTo>
                    <a:pt x="23864" y="554937"/>
                    <a:pt x="15604" y="551515"/>
                    <a:pt x="9513" y="545424"/>
                  </a:cubicBezTo>
                  <a:cubicBezTo>
                    <a:pt x="3422" y="539333"/>
                    <a:pt x="0" y="531072"/>
                    <a:pt x="0" y="522458"/>
                  </a:cubicBezTo>
                  <a:lnTo>
                    <a:pt x="0" y="32478"/>
                  </a:lnTo>
                  <a:cubicBezTo>
                    <a:pt x="0" y="23864"/>
                    <a:pt x="3422" y="15604"/>
                    <a:pt x="9513" y="9513"/>
                  </a:cubicBezTo>
                  <a:cubicBezTo>
                    <a:pt x="15604" y="3422"/>
                    <a:pt x="23864" y="0"/>
                    <a:pt x="32478" y="0"/>
                  </a:cubicBezTo>
                  <a:close/>
                </a:path>
              </a:pathLst>
            </a:custGeom>
            <a:blipFill>
              <a:blip r:embed="rId7"/>
              <a:stretch>
                <a:fillRect l="0" t="-11865" r="0" b="-11865"/>
              </a:stretch>
            </a:blipFill>
          </p:spPr>
        </p:sp>
      </p:grpSp>
      <p:sp>
        <p:nvSpPr>
          <p:cNvPr name="Freeform 13" id="13"/>
          <p:cNvSpPr/>
          <p:nvPr/>
        </p:nvSpPr>
        <p:spPr>
          <a:xfrm flipH="false" flipV="false" rot="0">
            <a:off x="13113605" y="5294776"/>
            <a:ext cx="4145695" cy="4172270"/>
          </a:xfrm>
          <a:custGeom>
            <a:avLst/>
            <a:gdLst/>
            <a:ahLst/>
            <a:cxnLst/>
            <a:rect r="r" b="b" t="t" l="l"/>
            <a:pathLst>
              <a:path h="4172270" w="4145695">
                <a:moveTo>
                  <a:pt x="0" y="0"/>
                </a:moveTo>
                <a:lnTo>
                  <a:pt x="4145695" y="0"/>
                </a:lnTo>
                <a:lnTo>
                  <a:pt x="4145695" y="4172270"/>
                </a:lnTo>
                <a:lnTo>
                  <a:pt x="0" y="4172270"/>
                </a:lnTo>
                <a:lnTo>
                  <a:pt x="0" y="0"/>
                </a:lnTo>
                <a:close/>
              </a:path>
            </a:pathLst>
          </a:custGeom>
          <a:blipFill>
            <a:blip r:embed="rId8"/>
            <a:stretch>
              <a:fillRect l="0" t="0" r="0" b="0"/>
            </a:stretch>
          </a:blipFill>
        </p:spPr>
      </p:sp>
      <p:sp>
        <p:nvSpPr>
          <p:cNvPr name="TextBox 14" id="14"/>
          <p:cNvSpPr txBox="true"/>
          <p:nvPr/>
        </p:nvSpPr>
        <p:spPr>
          <a:xfrm rot="-5400000">
            <a:off x="-2268144" y="4423033"/>
            <a:ext cx="7843505" cy="1440934"/>
          </a:xfrm>
          <a:prstGeom prst="rect">
            <a:avLst/>
          </a:prstGeom>
        </p:spPr>
        <p:txBody>
          <a:bodyPr anchor="t" rtlCol="false" tIns="0" lIns="0" bIns="0" rIns="0">
            <a:spAutoFit/>
          </a:bodyPr>
          <a:lstStyle/>
          <a:p>
            <a:pPr algn="l" marL="0" indent="0" lvl="0">
              <a:lnSpc>
                <a:spcPts val="10704"/>
              </a:lnSpc>
              <a:spcBef>
                <a:spcPct val="0"/>
              </a:spcBef>
            </a:pPr>
            <a:r>
              <a:rPr lang="en-US" sz="10704">
                <a:solidFill>
                  <a:srgbClr val="FFFFFF"/>
                </a:solidFill>
                <a:latin typeface="Kollektif"/>
                <a:ea typeface="Kollektif"/>
                <a:cs typeface="Kollektif"/>
                <a:sym typeface="Kollektif"/>
              </a:rPr>
              <a:t>Components:</a:t>
            </a:r>
          </a:p>
        </p:txBody>
      </p:sp>
    </p:spTree>
  </p:cSld>
  <p:clrMapOvr>
    <a:masterClrMapping/>
  </p:clrMapOvr>
  <p:transition spd="slow">
    <p:push dir="l"/>
  </p:transition>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true" flipV="false" rot="0">
            <a:off x="-7861220" y="-6594892"/>
            <a:ext cx="14620136" cy="11951961"/>
          </a:xfrm>
          <a:custGeom>
            <a:avLst/>
            <a:gdLst/>
            <a:ahLst/>
            <a:cxnLst/>
            <a:rect r="r" b="b" t="t" l="l"/>
            <a:pathLst>
              <a:path h="11951961" w="14620136">
                <a:moveTo>
                  <a:pt x="14620136" y="0"/>
                </a:moveTo>
                <a:lnTo>
                  <a:pt x="0" y="0"/>
                </a:lnTo>
                <a:lnTo>
                  <a:pt x="0" y="11951961"/>
                </a:lnTo>
                <a:lnTo>
                  <a:pt x="14620136" y="11951961"/>
                </a:lnTo>
                <a:lnTo>
                  <a:pt x="14620136" y="0"/>
                </a:lnTo>
                <a:close/>
              </a:path>
            </a:pathLst>
          </a:custGeom>
          <a:blipFill>
            <a:blip r:embed="rId2"/>
            <a:stretch>
              <a:fillRect l="0" t="0" r="0" b="0"/>
            </a:stretch>
          </a:blipFill>
        </p:spPr>
      </p:sp>
      <p:sp>
        <p:nvSpPr>
          <p:cNvPr name="TextBox 3" id="3"/>
          <p:cNvSpPr txBox="true"/>
          <p:nvPr/>
        </p:nvSpPr>
        <p:spPr>
          <a:xfrm rot="0">
            <a:off x="1028700" y="903955"/>
            <a:ext cx="6896001" cy="1234366"/>
          </a:xfrm>
          <a:prstGeom prst="rect">
            <a:avLst/>
          </a:prstGeom>
        </p:spPr>
        <p:txBody>
          <a:bodyPr anchor="t" rtlCol="false" tIns="0" lIns="0" bIns="0" rIns="0">
            <a:spAutoFit/>
          </a:bodyPr>
          <a:lstStyle/>
          <a:p>
            <a:pPr algn="ctr">
              <a:lnSpc>
                <a:spcPts val="9222"/>
              </a:lnSpc>
              <a:spcBef>
                <a:spcPct val="0"/>
              </a:spcBef>
            </a:pPr>
            <a:r>
              <a:rPr lang="en-US" b="true" sz="9222" spc="608">
                <a:solidFill>
                  <a:srgbClr val="FFFFFF"/>
                </a:solidFill>
                <a:latin typeface="Kollektif Bold"/>
                <a:ea typeface="Kollektif Bold"/>
                <a:cs typeface="Kollektif Bold"/>
                <a:sym typeface="Kollektif Bold"/>
              </a:rPr>
              <a:t>Reference:</a:t>
            </a:r>
          </a:p>
        </p:txBody>
      </p:sp>
      <p:sp>
        <p:nvSpPr>
          <p:cNvPr name="TextBox 4" id="4"/>
          <p:cNvSpPr txBox="true"/>
          <p:nvPr/>
        </p:nvSpPr>
        <p:spPr>
          <a:xfrm rot="0">
            <a:off x="789877" y="2531690"/>
            <a:ext cx="15400734" cy="5364023"/>
          </a:xfrm>
          <a:prstGeom prst="rect">
            <a:avLst/>
          </a:prstGeom>
        </p:spPr>
        <p:txBody>
          <a:bodyPr anchor="t" rtlCol="false" tIns="0" lIns="0" bIns="0" rIns="0">
            <a:spAutoFit/>
          </a:bodyPr>
          <a:lstStyle/>
          <a:p>
            <a:pPr algn="just">
              <a:lnSpc>
                <a:spcPts val="3057"/>
              </a:lnSpc>
              <a:spcBef>
                <a:spcPct val="0"/>
              </a:spcBef>
            </a:pPr>
            <a:r>
              <a:rPr lang="en-US" b="true" sz="3057" spc="-128">
                <a:solidFill>
                  <a:srgbClr val="FFFFFF"/>
                </a:solidFill>
                <a:latin typeface="Kollektif Bold"/>
                <a:ea typeface="Kollektif Bold"/>
                <a:cs typeface="Kollektif Bold"/>
                <a:sym typeface="Kollektif Bold"/>
              </a:rPr>
              <a:t>•[1] A. Author et al., “Title of the Paper,” Journal Name, Year.</a:t>
            </a:r>
          </a:p>
          <a:p>
            <a:pPr algn="just">
              <a:lnSpc>
                <a:spcPts val="3057"/>
              </a:lnSpc>
              <a:spcBef>
                <a:spcPct val="0"/>
              </a:spcBef>
            </a:pPr>
            <a:r>
              <a:rPr lang="en-US" b="true" sz="3057" spc="-128">
                <a:solidFill>
                  <a:srgbClr val="FFFFFF"/>
                </a:solidFill>
                <a:latin typeface="Kollektif Bold"/>
                <a:ea typeface="Kollektif Bold"/>
                <a:cs typeface="Kollektif Bold"/>
                <a:sym typeface="Kollektif Bold"/>
              </a:rPr>
              <a:t>•https://penerbit.uthm.edu.my/periodicals/index.php/eeee/article/view/10622</a:t>
            </a:r>
          </a:p>
          <a:p>
            <a:pPr algn="just">
              <a:lnSpc>
                <a:spcPts val="3057"/>
              </a:lnSpc>
              <a:spcBef>
                <a:spcPct val="0"/>
              </a:spcBef>
            </a:pPr>
          </a:p>
          <a:p>
            <a:pPr algn="just">
              <a:lnSpc>
                <a:spcPts val="3057"/>
              </a:lnSpc>
              <a:spcBef>
                <a:spcPct val="0"/>
              </a:spcBef>
            </a:pPr>
          </a:p>
          <a:p>
            <a:pPr algn="just">
              <a:lnSpc>
                <a:spcPts val="3057"/>
              </a:lnSpc>
              <a:spcBef>
                <a:spcPct val="0"/>
              </a:spcBef>
            </a:pPr>
            <a:r>
              <a:rPr lang="en-US" b="true" sz="3057" spc="-128">
                <a:solidFill>
                  <a:srgbClr val="FFFFFF"/>
                </a:solidFill>
                <a:latin typeface="Kollektif Bold"/>
                <a:ea typeface="Kollektif Bold"/>
                <a:cs typeface="Kollektif Bold"/>
                <a:sym typeface="Kollektif Bold"/>
              </a:rPr>
              <a:t>•[2] “Smart Road Safety and Emergency Response System,” IJRASET, Year.</a:t>
            </a:r>
          </a:p>
          <a:p>
            <a:pPr algn="just">
              <a:lnSpc>
                <a:spcPts val="3057"/>
              </a:lnSpc>
              <a:spcBef>
                <a:spcPct val="0"/>
              </a:spcBef>
            </a:pPr>
            <a:r>
              <a:rPr lang="en-US" b="true" sz="3057" spc="-128">
                <a:solidFill>
                  <a:srgbClr val="FFFFFF"/>
                </a:solidFill>
                <a:latin typeface="Kollektif Bold"/>
                <a:ea typeface="Kollektif Bold"/>
                <a:cs typeface="Kollektif Bold"/>
                <a:sym typeface="Kollektif Bold"/>
              </a:rPr>
              <a:t>•https://www.ijraset.com/best-journal/smart-road-safety-and-emergency-response-system</a:t>
            </a:r>
          </a:p>
          <a:p>
            <a:pPr algn="just">
              <a:lnSpc>
                <a:spcPts val="3057"/>
              </a:lnSpc>
              <a:spcBef>
                <a:spcPct val="0"/>
              </a:spcBef>
            </a:pPr>
            <a:r>
              <a:rPr lang="en-US" b="true" sz="3057" spc="-128">
                <a:solidFill>
                  <a:srgbClr val="FFFFFF"/>
                </a:solidFill>
                <a:latin typeface="Kollektif Bold"/>
                <a:ea typeface="Kollektif Bold"/>
                <a:cs typeface="Kollektif Bold"/>
                <a:sym typeface="Kollektif Bold"/>
              </a:rPr>
              <a:t> </a:t>
            </a:r>
          </a:p>
          <a:p>
            <a:pPr algn="just">
              <a:lnSpc>
                <a:spcPts val="3057"/>
              </a:lnSpc>
              <a:spcBef>
                <a:spcPct val="0"/>
              </a:spcBef>
            </a:pPr>
            <a:r>
              <a:rPr lang="en-US" b="true" sz="3057" spc="-128">
                <a:solidFill>
                  <a:srgbClr val="FFFFFF"/>
                </a:solidFill>
                <a:latin typeface="Kollektif Bold"/>
                <a:ea typeface="Kollektif Bold"/>
                <a:cs typeface="Kollektif Bold"/>
                <a:sym typeface="Kollektif Bold"/>
              </a:rPr>
              <a:t>•[3] Sensors Journal, MDPI, vol. 22, no. 6, 2022.</a:t>
            </a:r>
          </a:p>
          <a:p>
            <a:pPr algn="just">
              <a:lnSpc>
                <a:spcPts val="3057"/>
              </a:lnSpc>
              <a:spcBef>
                <a:spcPct val="0"/>
              </a:spcBef>
            </a:pPr>
            <a:r>
              <a:rPr lang="en-US" b="true" sz="3057" spc="-128">
                <a:solidFill>
                  <a:srgbClr val="FFFFFF"/>
                </a:solidFill>
                <a:latin typeface="Kollektif Bold"/>
                <a:ea typeface="Kollektif Bold"/>
                <a:cs typeface="Kollektif Bold"/>
                <a:sym typeface="Kollektif Bold"/>
              </a:rPr>
              <a:t>•https://www.mdpi.com/1424-8220/22/6/2077</a:t>
            </a:r>
          </a:p>
          <a:p>
            <a:pPr algn="just">
              <a:lnSpc>
                <a:spcPts val="3057"/>
              </a:lnSpc>
              <a:spcBef>
                <a:spcPct val="0"/>
              </a:spcBef>
            </a:pPr>
          </a:p>
          <a:p>
            <a:pPr algn="just">
              <a:lnSpc>
                <a:spcPts val="3057"/>
              </a:lnSpc>
              <a:spcBef>
                <a:spcPct val="0"/>
              </a:spcBef>
            </a:pPr>
          </a:p>
          <a:p>
            <a:pPr algn="just">
              <a:lnSpc>
                <a:spcPts val="3057"/>
              </a:lnSpc>
              <a:spcBef>
                <a:spcPct val="0"/>
              </a:spcBef>
            </a:pPr>
            <a:r>
              <a:rPr lang="en-US" b="true" sz="3057" spc="-128">
                <a:solidFill>
                  <a:srgbClr val="FFFFFF"/>
                </a:solidFill>
                <a:latin typeface="Kollektif Bold"/>
                <a:ea typeface="Kollektif Bold"/>
                <a:cs typeface="Kollektif Bold"/>
                <a:sym typeface="Kollektif Bold"/>
              </a:rPr>
              <a:t>•[4] Sustainability Journal, MDPI, vol. 17, no. 14, 2024.</a:t>
            </a:r>
          </a:p>
          <a:p>
            <a:pPr algn="just">
              <a:lnSpc>
                <a:spcPts val="3057"/>
              </a:lnSpc>
              <a:spcBef>
                <a:spcPct val="0"/>
              </a:spcBef>
            </a:pPr>
            <a:r>
              <a:rPr lang="en-US" b="true" sz="3057" spc="-128">
                <a:solidFill>
                  <a:srgbClr val="FFFFFF"/>
                </a:solidFill>
                <a:latin typeface="Kollektif Bold"/>
                <a:ea typeface="Kollektif Bold"/>
                <a:cs typeface="Kollektif Bold"/>
                <a:sym typeface="Kollektif Bold"/>
              </a:rPr>
              <a:t>•https://www.mdpi.com/2071-1050/17/14/6510</a:t>
            </a:r>
          </a:p>
          <a:p>
            <a:pPr algn="just">
              <a:lnSpc>
                <a:spcPts val="3057"/>
              </a:lnSpc>
              <a:spcBef>
                <a:spcPct val="0"/>
              </a:spcBef>
            </a:pPr>
          </a:p>
        </p:txBody>
      </p:sp>
    </p:spTree>
  </p:cSld>
  <p:clrMapOvr>
    <a:masterClrMapping/>
  </p:clrMapOvr>
  <p:transition spd="slow">
    <p:push dir="l"/>
  </p:transition>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1638070" y="-345988"/>
            <a:ext cx="25333541" cy="21628510"/>
          </a:xfrm>
          <a:custGeom>
            <a:avLst/>
            <a:gdLst/>
            <a:ahLst/>
            <a:cxnLst/>
            <a:rect r="r" b="b" t="t" l="l"/>
            <a:pathLst>
              <a:path h="21628510" w="25333541">
                <a:moveTo>
                  <a:pt x="0" y="0"/>
                </a:moveTo>
                <a:lnTo>
                  <a:pt x="25333540" y="0"/>
                </a:lnTo>
                <a:lnTo>
                  <a:pt x="25333540" y="21628510"/>
                </a:lnTo>
                <a:lnTo>
                  <a:pt x="0" y="21628510"/>
                </a:lnTo>
                <a:lnTo>
                  <a:pt x="0" y="0"/>
                </a:lnTo>
                <a:close/>
              </a:path>
            </a:pathLst>
          </a:custGeom>
          <a:blipFill>
            <a:blip r:embed="rId2"/>
            <a:stretch>
              <a:fillRect l="0" t="0" r="0" b="0"/>
            </a:stretch>
          </a:blipFill>
          <a:ln cap="sq">
            <a:noFill/>
            <a:prstDash val="solid"/>
            <a:miter/>
          </a:ln>
        </p:spPr>
      </p:sp>
      <p:sp>
        <p:nvSpPr>
          <p:cNvPr name="TextBox 3" id="3"/>
          <p:cNvSpPr txBox="true"/>
          <p:nvPr/>
        </p:nvSpPr>
        <p:spPr>
          <a:xfrm rot="0">
            <a:off x="4775891" y="4271371"/>
            <a:ext cx="7768928" cy="1397773"/>
          </a:xfrm>
          <a:prstGeom prst="rect">
            <a:avLst/>
          </a:prstGeom>
        </p:spPr>
        <p:txBody>
          <a:bodyPr anchor="t" rtlCol="false" tIns="0" lIns="0" bIns="0" rIns="0">
            <a:spAutoFit/>
          </a:bodyPr>
          <a:lstStyle/>
          <a:p>
            <a:pPr algn="just">
              <a:lnSpc>
                <a:spcPts val="10405"/>
              </a:lnSpc>
              <a:spcBef>
                <a:spcPct val="0"/>
              </a:spcBef>
            </a:pPr>
            <a:r>
              <a:rPr lang="en-US" b="true" sz="10405" spc="-437">
                <a:solidFill>
                  <a:srgbClr val="FFFDFC"/>
                </a:solidFill>
                <a:latin typeface="Kollektif Bold"/>
                <a:ea typeface="Kollektif Bold"/>
                <a:cs typeface="Kollektif Bold"/>
                <a:sym typeface="Kollektif Bold"/>
              </a:rPr>
              <a:t> THANK YOU </a:t>
            </a:r>
          </a:p>
        </p:txBody>
      </p:sp>
    </p:spTree>
  </p:cSld>
  <p:clrMapOvr>
    <a:masterClrMapping/>
  </p:clrMapOvr>
  <p:transition spd="slow">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DAG_6RQUzt0</dc:identifier>
  <dcterms:modified xsi:type="dcterms:W3CDTF">2011-08-01T06:04:30Z</dcterms:modified>
  <cp:revision>1</cp:revision>
  <dc:title>Copy of Gradient Minimalist Business Slides</dc:title>
</cp:coreProperties>
</file>